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8" r:id="rId4"/>
    <p:sldId id="259" r:id="rId5"/>
    <p:sldId id="268" r:id="rId6"/>
    <p:sldId id="260" r:id="rId7"/>
    <p:sldId id="269" r:id="rId8"/>
    <p:sldId id="270" r:id="rId9"/>
    <p:sldId id="271" r:id="rId10"/>
    <p:sldId id="272" r:id="rId11"/>
    <p:sldId id="273" r:id="rId12"/>
    <p:sldId id="266" r:id="rId13"/>
    <p:sldId id="265" r:id="rId14"/>
  </p:sldIdLst>
  <p:sldSz cx="18288000" cy="10287000"/>
  <p:notesSz cx="6858000" cy="9144000"/>
  <p:embeddedFontLst>
    <p:embeddedFont>
      <p:font typeface="Georgia Pro" panose="02040502050405020303" pitchFamily="18" charset="0"/>
      <p:regular r:id="rId16"/>
    </p:embeddedFont>
    <p:embeddedFont>
      <p:font typeface="Georgia Pro Bold" panose="02040802050405020203" charset="0"/>
      <p:regular r:id="rId17"/>
    </p:embeddedFont>
    <p:embeddedFont>
      <p:font typeface="Poppins" panose="00000500000000000000" pitchFamily="2" charset="0"/>
      <p:regular r:id="rId18"/>
      <p:bold r:id="rId19"/>
    </p:embeddedFont>
    <p:embeddedFont>
      <p:font typeface="Poppins Bold" panose="00000800000000000000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93929" autoAdjust="0"/>
  </p:normalViewPr>
  <p:slideViewPr>
    <p:cSldViewPr>
      <p:cViewPr varScale="1">
        <p:scale>
          <a:sx n="70" d="100"/>
          <a:sy n="70" d="100"/>
        </p:scale>
        <p:origin x="115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589E6-2463-47E9-A779-CA594E1A7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22601-F28A-40AA-846F-5C58B540F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44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22601-F28A-40AA-846F-5C58B540F7B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701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22601-F28A-40AA-846F-5C58B540F7B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44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13034820" y="-5848870"/>
            <a:ext cx="8448960" cy="8448960"/>
            <a:chOff x="0" y="0"/>
            <a:chExt cx="2263545" cy="22635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3545" cy="2263545"/>
            </a:xfrm>
            <a:custGeom>
              <a:avLst/>
              <a:gdLst/>
              <a:ahLst/>
              <a:cxnLst/>
              <a:rect l="l" t="t" r="r" b="b"/>
              <a:pathLst>
                <a:path w="2263545" h="2263545">
                  <a:moveTo>
                    <a:pt x="35736" y="0"/>
                  </a:moveTo>
                  <a:lnTo>
                    <a:pt x="2227808" y="0"/>
                  </a:lnTo>
                  <a:cubicBezTo>
                    <a:pt x="2237286" y="0"/>
                    <a:pt x="2246376" y="3765"/>
                    <a:pt x="2253078" y="10467"/>
                  </a:cubicBezTo>
                  <a:cubicBezTo>
                    <a:pt x="2259780" y="17169"/>
                    <a:pt x="2263545" y="26258"/>
                    <a:pt x="2263545" y="35736"/>
                  </a:cubicBezTo>
                  <a:lnTo>
                    <a:pt x="2263545" y="2227808"/>
                  </a:lnTo>
                  <a:cubicBezTo>
                    <a:pt x="2263545" y="2237286"/>
                    <a:pt x="2259780" y="2246376"/>
                    <a:pt x="2253078" y="2253078"/>
                  </a:cubicBezTo>
                  <a:cubicBezTo>
                    <a:pt x="2246376" y="2259780"/>
                    <a:pt x="2237286" y="2263545"/>
                    <a:pt x="2227808" y="2263545"/>
                  </a:cubicBezTo>
                  <a:lnTo>
                    <a:pt x="35736" y="2263545"/>
                  </a:lnTo>
                  <a:cubicBezTo>
                    <a:pt x="26258" y="2263545"/>
                    <a:pt x="17169" y="2259780"/>
                    <a:pt x="10467" y="2253078"/>
                  </a:cubicBezTo>
                  <a:cubicBezTo>
                    <a:pt x="3765" y="2246376"/>
                    <a:pt x="0" y="2237286"/>
                    <a:pt x="0" y="2227808"/>
                  </a:cubicBezTo>
                  <a:lnTo>
                    <a:pt x="0" y="35736"/>
                  </a:lnTo>
                  <a:cubicBezTo>
                    <a:pt x="0" y="26258"/>
                    <a:pt x="3765" y="17169"/>
                    <a:pt x="10467" y="10467"/>
                  </a:cubicBezTo>
                  <a:cubicBezTo>
                    <a:pt x="17169" y="3765"/>
                    <a:pt x="26258" y="0"/>
                    <a:pt x="35736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63545" cy="2301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10405419" y="-7052713"/>
            <a:ext cx="8717733" cy="8717733"/>
            <a:chOff x="0" y="0"/>
            <a:chExt cx="2296028" cy="22960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6028" cy="2296028"/>
            </a:xfrm>
            <a:custGeom>
              <a:avLst/>
              <a:gdLst/>
              <a:ahLst/>
              <a:cxnLst/>
              <a:rect l="l" t="t" r="r" b="b"/>
              <a:pathLst>
                <a:path w="2296028" h="2296028">
                  <a:moveTo>
                    <a:pt x="34635" y="0"/>
                  </a:moveTo>
                  <a:lnTo>
                    <a:pt x="2261394" y="0"/>
                  </a:lnTo>
                  <a:cubicBezTo>
                    <a:pt x="2280522" y="0"/>
                    <a:pt x="2296028" y="15506"/>
                    <a:pt x="2296028" y="34635"/>
                  </a:cubicBezTo>
                  <a:lnTo>
                    <a:pt x="2296028" y="2261394"/>
                  </a:lnTo>
                  <a:cubicBezTo>
                    <a:pt x="2296028" y="2280522"/>
                    <a:pt x="2280522" y="2296028"/>
                    <a:pt x="2261394" y="2296028"/>
                  </a:cubicBezTo>
                  <a:lnTo>
                    <a:pt x="34635" y="2296028"/>
                  </a:lnTo>
                  <a:cubicBezTo>
                    <a:pt x="25449" y="2296028"/>
                    <a:pt x="16639" y="2292379"/>
                    <a:pt x="10144" y="2285884"/>
                  </a:cubicBezTo>
                  <a:cubicBezTo>
                    <a:pt x="3649" y="2279389"/>
                    <a:pt x="0" y="2270580"/>
                    <a:pt x="0" y="2261394"/>
                  </a:cubicBezTo>
                  <a:lnTo>
                    <a:pt x="0" y="34635"/>
                  </a:lnTo>
                  <a:cubicBezTo>
                    <a:pt x="0" y="15506"/>
                    <a:pt x="15506" y="0"/>
                    <a:pt x="34635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96028" cy="233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-4224480" y="6893337"/>
            <a:ext cx="8448960" cy="8448960"/>
            <a:chOff x="0" y="0"/>
            <a:chExt cx="2263545" cy="2263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3545" cy="2263545"/>
            </a:xfrm>
            <a:custGeom>
              <a:avLst/>
              <a:gdLst/>
              <a:ahLst/>
              <a:cxnLst/>
              <a:rect l="l" t="t" r="r" b="b"/>
              <a:pathLst>
                <a:path w="2263545" h="2263545">
                  <a:moveTo>
                    <a:pt x="35736" y="0"/>
                  </a:moveTo>
                  <a:lnTo>
                    <a:pt x="2227808" y="0"/>
                  </a:lnTo>
                  <a:cubicBezTo>
                    <a:pt x="2237286" y="0"/>
                    <a:pt x="2246376" y="3765"/>
                    <a:pt x="2253078" y="10467"/>
                  </a:cubicBezTo>
                  <a:cubicBezTo>
                    <a:pt x="2259780" y="17169"/>
                    <a:pt x="2263545" y="26258"/>
                    <a:pt x="2263545" y="35736"/>
                  </a:cubicBezTo>
                  <a:lnTo>
                    <a:pt x="2263545" y="2227808"/>
                  </a:lnTo>
                  <a:cubicBezTo>
                    <a:pt x="2263545" y="2237286"/>
                    <a:pt x="2259780" y="2246376"/>
                    <a:pt x="2253078" y="2253078"/>
                  </a:cubicBezTo>
                  <a:cubicBezTo>
                    <a:pt x="2246376" y="2259780"/>
                    <a:pt x="2237286" y="2263545"/>
                    <a:pt x="2227808" y="2263545"/>
                  </a:cubicBezTo>
                  <a:lnTo>
                    <a:pt x="35736" y="2263545"/>
                  </a:lnTo>
                  <a:cubicBezTo>
                    <a:pt x="26258" y="2263545"/>
                    <a:pt x="17169" y="2259780"/>
                    <a:pt x="10467" y="2253078"/>
                  </a:cubicBezTo>
                  <a:cubicBezTo>
                    <a:pt x="3765" y="2246376"/>
                    <a:pt x="0" y="2237286"/>
                    <a:pt x="0" y="2227808"/>
                  </a:cubicBezTo>
                  <a:lnTo>
                    <a:pt x="0" y="35736"/>
                  </a:lnTo>
                  <a:cubicBezTo>
                    <a:pt x="0" y="26258"/>
                    <a:pt x="3765" y="17169"/>
                    <a:pt x="10467" y="10467"/>
                  </a:cubicBezTo>
                  <a:cubicBezTo>
                    <a:pt x="17169" y="3765"/>
                    <a:pt x="26258" y="0"/>
                    <a:pt x="35736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63545" cy="2301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-984038" y="8277255"/>
            <a:ext cx="8717733" cy="8717733"/>
            <a:chOff x="0" y="0"/>
            <a:chExt cx="2296028" cy="22960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96028" cy="2296028"/>
            </a:xfrm>
            <a:custGeom>
              <a:avLst/>
              <a:gdLst/>
              <a:ahLst/>
              <a:cxnLst/>
              <a:rect l="l" t="t" r="r" b="b"/>
              <a:pathLst>
                <a:path w="2296028" h="2296028">
                  <a:moveTo>
                    <a:pt x="34635" y="0"/>
                  </a:moveTo>
                  <a:lnTo>
                    <a:pt x="2261394" y="0"/>
                  </a:lnTo>
                  <a:cubicBezTo>
                    <a:pt x="2280522" y="0"/>
                    <a:pt x="2296028" y="15506"/>
                    <a:pt x="2296028" y="34635"/>
                  </a:cubicBezTo>
                  <a:lnTo>
                    <a:pt x="2296028" y="2261394"/>
                  </a:lnTo>
                  <a:cubicBezTo>
                    <a:pt x="2296028" y="2280522"/>
                    <a:pt x="2280522" y="2296028"/>
                    <a:pt x="2261394" y="2296028"/>
                  </a:cubicBezTo>
                  <a:lnTo>
                    <a:pt x="34635" y="2296028"/>
                  </a:lnTo>
                  <a:cubicBezTo>
                    <a:pt x="25449" y="2296028"/>
                    <a:pt x="16639" y="2292379"/>
                    <a:pt x="10144" y="2285884"/>
                  </a:cubicBezTo>
                  <a:cubicBezTo>
                    <a:pt x="3649" y="2279389"/>
                    <a:pt x="0" y="2270580"/>
                    <a:pt x="0" y="2261394"/>
                  </a:cubicBezTo>
                  <a:lnTo>
                    <a:pt x="0" y="34635"/>
                  </a:lnTo>
                  <a:cubicBezTo>
                    <a:pt x="0" y="15506"/>
                    <a:pt x="15506" y="0"/>
                    <a:pt x="34635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96028" cy="233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46148" y="2451212"/>
            <a:ext cx="15240000" cy="3606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843"/>
              </a:lnSpc>
            </a:pPr>
            <a:r>
              <a:rPr lang="en-US" sz="8800" dirty="0">
                <a:solidFill>
                  <a:srgbClr val="F2F2F2"/>
                </a:solidFill>
                <a:latin typeface="Georgia Pro"/>
                <a:ea typeface="Georgia Pro"/>
                <a:cs typeface="Georgia Pro"/>
                <a:sym typeface="Georgia Pro"/>
              </a:rPr>
              <a:t>ATLIQ</a:t>
            </a:r>
            <a:r>
              <a:rPr lang="en-US" sz="9600" dirty="0">
                <a:solidFill>
                  <a:srgbClr val="F2F2F2"/>
                </a:solidFill>
                <a:latin typeface="Georgia Pro"/>
                <a:ea typeface="Georgia Pro"/>
                <a:cs typeface="Georgia Pro"/>
                <a:sym typeface="Georgia Pro"/>
              </a:rPr>
              <a:t> HARDWARE BUSINESS INSIGHTS 360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50280" y="6655844"/>
            <a:ext cx="18288000" cy="958096"/>
            <a:chOff x="0" y="0"/>
            <a:chExt cx="1444468" cy="756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208568" y="6911753"/>
            <a:ext cx="5689786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600" b="1" dirty="0">
                <a:solidFill>
                  <a:srgbClr val="333031"/>
                </a:solidFill>
                <a:latin typeface="Poppins"/>
                <a:ea typeface="Poppins"/>
                <a:cs typeface="Poppins"/>
                <a:sym typeface="Poppins"/>
              </a:rPr>
              <a:t>Power BI Project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71B3F6-AE2C-BF03-6902-15752EA016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8682"/>
            <a:ext cx="1576021" cy="1371273"/>
          </a:xfrm>
          <a:prstGeom prst="rect">
            <a:avLst/>
          </a:prstGeom>
        </p:spPr>
      </p:pic>
      <p:sp>
        <p:nvSpPr>
          <p:cNvPr id="29" name="TextBox 21">
            <a:extLst>
              <a:ext uri="{FF2B5EF4-FFF2-40B4-BE49-F238E27FC236}">
                <a16:creationId xmlns:a16="http://schemas.microsoft.com/office/drawing/2014/main" id="{16949D5E-603A-AD92-83A9-66B717C84BBD}"/>
              </a:ext>
            </a:extLst>
          </p:cNvPr>
          <p:cNvSpPr txBox="1"/>
          <p:nvPr/>
        </p:nvSpPr>
        <p:spPr>
          <a:xfrm>
            <a:off x="11881294" y="8898876"/>
            <a:ext cx="658743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6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Presented By – Vipul Gour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A7C7-6465-A868-E702-D1F8287E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>
            <a:extLst>
              <a:ext uri="{FF2B5EF4-FFF2-40B4-BE49-F238E27FC236}">
                <a16:creationId xmlns:a16="http://schemas.microsoft.com/office/drawing/2014/main" id="{6DC12C89-801C-CD61-4043-510C45ADA4C9}"/>
              </a:ext>
            </a:extLst>
          </p:cNvPr>
          <p:cNvGrpSpPr/>
          <p:nvPr/>
        </p:nvGrpSpPr>
        <p:grpSpPr>
          <a:xfrm>
            <a:off x="2514598" y="6646565"/>
            <a:ext cx="1892121" cy="1892121"/>
            <a:chOff x="0" y="-63496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62D988B-9F2D-BCE5-2627-3C28BD60553F}"/>
                </a:ext>
              </a:extLst>
            </p:cNvPr>
            <p:cNvSpPr/>
            <p:nvPr/>
          </p:nvSpPr>
          <p:spPr>
            <a:xfrm>
              <a:off x="0" y="-63496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EEB63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F29E8DB-98A0-961E-4A77-BED0E6A97EF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EC8261D2-A16A-2E37-0734-76399F0448FA}"/>
              </a:ext>
            </a:extLst>
          </p:cNvPr>
          <p:cNvSpPr/>
          <p:nvPr/>
        </p:nvSpPr>
        <p:spPr>
          <a:xfrm>
            <a:off x="3083946" y="7018879"/>
            <a:ext cx="753423" cy="1003347"/>
          </a:xfrm>
          <a:custGeom>
            <a:avLst/>
            <a:gdLst/>
            <a:ahLst/>
            <a:cxnLst/>
            <a:rect l="l" t="t" r="r" b="b"/>
            <a:pathLst>
              <a:path w="753423" h="1003347">
                <a:moveTo>
                  <a:pt x="0" y="0"/>
                </a:moveTo>
                <a:lnTo>
                  <a:pt x="753423" y="0"/>
                </a:lnTo>
                <a:lnTo>
                  <a:pt x="753423" y="1003347"/>
                </a:lnTo>
                <a:lnTo>
                  <a:pt x="0" y="1003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9DA1727C-8928-F8CC-4C2F-B446C92ACCC2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166759B6-B5F6-BAA4-D8F2-5BB7B28F46F7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F712AEEC-7F8C-DA40-33BA-74D02B517A50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BA1B435E-1E43-2472-0035-0868A3E7A5AF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475627C8-6426-4044-AFB3-B8774AF896E7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7009713C-9FF0-C4EE-8552-89941C2C4CCB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99F43E25-3C10-5BDA-17FE-22DA6AF6C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49755"/>
            <a:ext cx="691476" cy="6766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B0F8E42-B3A7-2EDD-EF52-BF2816483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41" y="2476499"/>
            <a:ext cx="5222297" cy="36831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201E9F3-CBD7-9B6E-28D1-4CFC84D1C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78201"/>
              </p:ext>
            </p:extLst>
          </p:nvPr>
        </p:nvGraphicFramePr>
        <p:xfrm>
          <a:off x="7315200" y="2476499"/>
          <a:ext cx="9658350" cy="606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8350">
                  <a:extLst>
                    <a:ext uri="{9D8B030D-6E8A-4147-A177-3AD203B41FA5}">
                      <a16:colId xmlns:a16="http://schemas.microsoft.com/office/drawing/2014/main" val="2237487526"/>
                    </a:ext>
                  </a:extLst>
                </a:gridCol>
              </a:tblGrid>
              <a:tr h="1010365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AGENDA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917872"/>
                  </a:ext>
                </a:extLst>
              </a:tr>
              <a:tr h="1010365">
                <a:tc>
                  <a:txBody>
                    <a:bodyPr/>
                    <a:lstStyle/>
                    <a:p>
                      <a:pPr algn="l"/>
                      <a:r>
                        <a:rPr lang="en-US" sz="3200" dirty="0"/>
                        <a:t>1.Company Background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5824"/>
                  </a:ext>
                </a:extLst>
              </a:tr>
              <a:tr h="1010365">
                <a:tc>
                  <a:txBody>
                    <a:bodyPr/>
                    <a:lstStyle/>
                    <a:p>
                      <a:pPr algn="l"/>
                      <a:r>
                        <a:rPr lang="en-US" sz="3200" dirty="0"/>
                        <a:t>2.Problem Statement 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378182"/>
                  </a:ext>
                </a:extLst>
              </a:tr>
              <a:tr h="1010365">
                <a:tc>
                  <a:txBody>
                    <a:bodyPr/>
                    <a:lstStyle/>
                    <a:p>
                      <a:pPr algn="l"/>
                      <a:r>
                        <a:rPr lang="en-US" sz="3200" dirty="0"/>
                        <a:t>3.Data Collection Process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35764"/>
                  </a:ext>
                </a:extLst>
              </a:tr>
              <a:tr h="1010365">
                <a:tc>
                  <a:txBody>
                    <a:bodyPr/>
                    <a:lstStyle/>
                    <a:p>
                      <a:pPr algn="l"/>
                      <a:r>
                        <a:rPr lang="en-US" sz="3200" dirty="0"/>
                        <a:t>4.Key Insights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761363"/>
                  </a:ext>
                </a:extLst>
              </a:tr>
              <a:tr h="1010365">
                <a:tc>
                  <a:txBody>
                    <a:bodyPr/>
                    <a:lstStyle/>
                    <a:p>
                      <a:pPr algn="l"/>
                      <a:r>
                        <a:rPr lang="en-US" sz="3200" dirty="0"/>
                        <a:t>5.Recommendations</a:t>
                      </a:r>
                      <a:endParaRPr lang="en-IN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7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4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94805"/>
            <a:ext cx="2583522" cy="2611590"/>
            <a:chOff x="0" y="0"/>
            <a:chExt cx="400255" cy="4046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255" cy="404604"/>
            </a:xfrm>
            <a:custGeom>
              <a:avLst/>
              <a:gdLst/>
              <a:ahLst/>
              <a:cxnLst/>
              <a:rect l="l" t="t" r="r" b="b"/>
              <a:pathLst>
                <a:path w="400255" h="404604">
                  <a:moveTo>
                    <a:pt x="68923" y="0"/>
                  </a:moveTo>
                  <a:lnTo>
                    <a:pt x="331332" y="0"/>
                  </a:lnTo>
                  <a:cubicBezTo>
                    <a:pt x="349612" y="0"/>
                    <a:pt x="367143" y="7262"/>
                    <a:pt x="380068" y="20187"/>
                  </a:cubicBezTo>
                  <a:cubicBezTo>
                    <a:pt x="392994" y="33113"/>
                    <a:pt x="400255" y="50644"/>
                    <a:pt x="400255" y="68923"/>
                  </a:cubicBezTo>
                  <a:lnTo>
                    <a:pt x="400255" y="335681"/>
                  </a:lnTo>
                  <a:cubicBezTo>
                    <a:pt x="400255" y="373746"/>
                    <a:pt x="369397" y="404604"/>
                    <a:pt x="331332" y="404604"/>
                  </a:cubicBezTo>
                  <a:lnTo>
                    <a:pt x="68923" y="404604"/>
                  </a:lnTo>
                  <a:cubicBezTo>
                    <a:pt x="50644" y="404604"/>
                    <a:pt x="33113" y="397342"/>
                    <a:pt x="20187" y="384417"/>
                  </a:cubicBezTo>
                  <a:cubicBezTo>
                    <a:pt x="7262" y="371491"/>
                    <a:pt x="0" y="353960"/>
                    <a:pt x="0" y="335681"/>
                  </a:cubicBezTo>
                  <a:lnTo>
                    <a:pt x="0" y="68923"/>
                  </a:lnTo>
                  <a:cubicBezTo>
                    <a:pt x="0" y="50644"/>
                    <a:pt x="7262" y="33113"/>
                    <a:pt x="20187" y="20187"/>
                  </a:cubicBezTo>
                  <a:cubicBezTo>
                    <a:pt x="33113" y="7262"/>
                    <a:pt x="50644" y="0"/>
                    <a:pt x="68923" y="0"/>
                  </a:cubicBezTo>
                  <a:close/>
                </a:path>
              </a:pathLst>
            </a:custGeom>
            <a:blipFill>
              <a:blip r:embed="rId3"/>
              <a:stretch>
                <a:fillRect l="-9283" t="-11214" r="-99564" b="-422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917022" y="2694805"/>
            <a:ext cx="4500235" cy="2611590"/>
            <a:chOff x="0" y="0"/>
            <a:chExt cx="697204" cy="4046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7204" cy="404604"/>
            </a:xfrm>
            <a:custGeom>
              <a:avLst/>
              <a:gdLst/>
              <a:ahLst/>
              <a:cxnLst/>
              <a:rect l="l" t="t" r="r" b="b"/>
              <a:pathLst>
                <a:path w="697204" h="404604">
                  <a:moveTo>
                    <a:pt x="39568" y="0"/>
                  </a:moveTo>
                  <a:lnTo>
                    <a:pt x="657636" y="0"/>
                  </a:lnTo>
                  <a:cubicBezTo>
                    <a:pt x="679489" y="0"/>
                    <a:pt x="697204" y="17715"/>
                    <a:pt x="697204" y="39568"/>
                  </a:cubicBezTo>
                  <a:lnTo>
                    <a:pt x="697204" y="365036"/>
                  </a:lnTo>
                  <a:cubicBezTo>
                    <a:pt x="697204" y="375530"/>
                    <a:pt x="693035" y="385594"/>
                    <a:pt x="685615" y="393015"/>
                  </a:cubicBezTo>
                  <a:cubicBezTo>
                    <a:pt x="678195" y="400435"/>
                    <a:pt x="668130" y="404604"/>
                    <a:pt x="657636" y="404604"/>
                  </a:cubicBezTo>
                  <a:lnTo>
                    <a:pt x="39568" y="404604"/>
                  </a:lnTo>
                  <a:cubicBezTo>
                    <a:pt x="29074" y="404604"/>
                    <a:pt x="19010" y="400435"/>
                    <a:pt x="11589" y="393015"/>
                  </a:cubicBezTo>
                  <a:cubicBezTo>
                    <a:pt x="4169" y="385594"/>
                    <a:pt x="0" y="375530"/>
                    <a:pt x="0" y="365036"/>
                  </a:cubicBezTo>
                  <a:lnTo>
                    <a:pt x="0" y="39568"/>
                  </a:lnTo>
                  <a:cubicBezTo>
                    <a:pt x="0" y="29074"/>
                    <a:pt x="4169" y="19010"/>
                    <a:pt x="11589" y="11589"/>
                  </a:cubicBezTo>
                  <a:cubicBezTo>
                    <a:pt x="19010" y="4169"/>
                    <a:pt x="29074" y="0"/>
                    <a:pt x="39568" y="0"/>
                  </a:cubicBezTo>
                  <a:close/>
                </a:path>
              </a:pathLst>
            </a:custGeom>
            <a:blipFill>
              <a:blip r:embed="rId4"/>
              <a:stretch>
                <a:fillRect t="-7403" b="-740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468252" y="6056069"/>
            <a:ext cx="1013016" cy="1205641"/>
            <a:chOff x="0" y="0"/>
            <a:chExt cx="682939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2939" cy="812800"/>
            </a:xfrm>
            <a:custGeom>
              <a:avLst/>
              <a:gdLst/>
              <a:ahLst/>
              <a:cxnLst/>
              <a:rect l="l" t="t" r="r" b="b"/>
              <a:pathLst>
                <a:path w="682939" h="812800">
                  <a:moveTo>
                    <a:pt x="114637" y="0"/>
                  </a:moveTo>
                  <a:lnTo>
                    <a:pt x="568302" y="0"/>
                  </a:lnTo>
                  <a:cubicBezTo>
                    <a:pt x="631614" y="0"/>
                    <a:pt x="682939" y="51325"/>
                    <a:pt x="682939" y="114637"/>
                  </a:cubicBezTo>
                  <a:lnTo>
                    <a:pt x="682939" y="698163"/>
                  </a:lnTo>
                  <a:cubicBezTo>
                    <a:pt x="682939" y="761475"/>
                    <a:pt x="631614" y="812800"/>
                    <a:pt x="568302" y="812800"/>
                  </a:cubicBezTo>
                  <a:lnTo>
                    <a:pt x="114637" y="812800"/>
                  </a:lnTo>
                  <a:cubicBezTo>
                    <a:pt x="51325" y="812800"/>
                    <a:pt x="0" y="761475"/>
                    <a:pt x="0" y="698163"/>
                  </a:cubicBezTo>
                  <a:lnTo>
                    <a:pt x="0" y="114637"/>
                  </a:lnTo>
                  <a:cubicBezTo>
                    <a:pt x="0" y="51325"/>
                    <a:pt x="51325" y="0"/>
                    <a:pt x="114637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682939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3847799" y="6056069"/>
            <a:ext cx="1013016" cy="1205641"/>
            <a:chOff x="0" y="0"/>
            <a:chExt cx="68293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2939" cy="812800"/>
            </a:xfrm>
            <a:custGeom>
              <a:avLst/>
              <a:gdLst/>
              <a:ahLst/>
              <a:cxnLst/>
              <a:rect l="l" t="t" r="r" b="b"/>
              <a:pathLst>
                <a:path w="682939" h="812800">
                  <a:moveTo>
                    <a:pt x="114637" y="0"/>
                  </a:moveTo>
                  <a:lnTo>
                    <a:pt x="568302" y="0"/>
                  </a:lnTo>
                  <a:cubicBezTo>
                    <a:pt x="631614" y="0"/>
                    <a:pt x="682939" y="51325"/>
                    <a:pt x="682939" y="114637"/>
                  </a:cubicBezTo>
                  <a:lnTo>
                    <a:pt x="682939" y="698163"/>
                  </a:lnTo>
                  <a:cubicBezTo>
                    <a:pt x="682939" y="761475"/>
                    <a:pt x="631614" y="812800"/>
                    <a:pt x="568302" y="812800"/>
                  </a:cubicBezTo>
                  <a:lnTo>
                    <a:pt x="114637" y="812800"/>
                  </a:lnTo>
                  <a:cubicBezTo>
                    <a:pt x="51325" y="812800"/>
                    <a:pt x="0" y="761475"/>
                    <a:pt x="0" y="698163"/>
                  </a:cubicBezTo>
                  <a:lnTo>
                    <a:pt x="0" y="114637"/>
                  </a:lnTo>
                  <a:cubicBezTo>
                    <a:pt x="0" y="51325"/>
                    <a:pt x="51325" y="0"/>
                    <a:pt x="114637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682939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6225695" y="6056069"/>
            <a:ext cx="1013016" cy="1205641"/>
            <a:chOff x="0" y="0"/>
            <a:chExt cx="68293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2939" cy="812800"/>
            </a:xfrm>
            <a:custGeom>
              <a:avLst/>
              <a:gdLst/>
              <a:ahLst/>
              <a:cxnLst/>
              <a:rect l="l" t="t" r="r" b="b"/>
              <a:pathLst>
                <a:path w="682939" h="812800">
                  <a:moveTo>
                    <a:pt x="114637" y="0"/>
                  </a:moveTo>
                  <a:lnTo>
                    <a:pt x="568302" y="0"/>
                  </a:lnTo>
                  <a:cubicBezTo>
                    <a:pt x="631614" y="0"/>
                    <a:pt x="682939" y="51325"/>
                    <a:pt x="682939" y="114637"/>
                  </a:cubicBezTo>
                  <a:lnTo>
                    <a:pt x="682939" y="698163"/>
                  </a:lnTo>
                  <a:cubicBezTo>
                    <a:pt x="682939" y="761475"/>
                    <a:pt x="631614" y="812800"/>
                    <a:pt x="568302" y="812800"/>
                  </a:cubicBezTo>
                  <a:lnTo>
                    <a:pt x="114637" y="812800"/>
                  </a:lnTo>
                  <a:cubicBezTo>
                    <a:pt x="51325" y="812800"/>
                    <a:pt x="0" y="761475"/>
                    <a:pt x="0" y="698163"/>
                  </a:cubicBezTo>
                  <a:lnTo>
                    <a:pt x="0" y="114637"/>
                  </a:lnTo>
                  <a:cubicBezTo>
                    <a:pt x="0" y="51325"/>
                    <a:pt x="51325" y="0"/>
                    <a:pt x="114637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82939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6868918"/>
            <a:ext cx="1892121" cy="189212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EEB63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08247" y="6868918"/>
            <a:ext cx="1892121" cy="189212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EEB63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86143" y="6850374"/>
            <a:ext cx="1892121" cy="189212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EEB63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273404" y="7356179"/>
            <a:ext cx="917599" cy="917599"/>
          </a:xfrm>
          <a:custGeom>
            <a:avLst/>
            <a:gdLst/>
            <a:ahLst/>
            <a:cxnLst/>
            <a:rect l="l" t="t" r="r" b="b"/>
            <a:pathLst>
              <a:path w="917599" h="917599">
                <a:moveTo>
                  <a:pt x="0" y="0"/>
                </a:moveTo>
                <a:lnTo>
                  <a:pt x="917599" y="0"/>
                </a:lnTo>
                <a:lnTo>
                  <a:pt x="917599" y="917599"/>
                </a:lnTo>
                <a:lnTo>
                  <a:pt x="0" y="917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598049" y="7261711"/>
            <a:ext cx="753423" cy="1003347"/>
          </a:xfrm>
          <a:custGeom>
            <a:avLst/>
            <a:gdLst/>
            <a:ahLst/>
            <a:cxnLst/>
            <a:rect l="l" t="t" r="r" b="b"/>
            <a:pathLst>
              <a:path w="753423" h="1003347">
                <a:moveTo>
                  <a:pt x="0" y="0"/>
                </a:moveTo>
                <a:lnTo>
                  <a:pt x="753423" y="0"/>
                </a:lnTo>
                <a:lnTo>
                  <a:pt x="753423" y="1003347"/>
                </a:lnTo>
                <a:lnTo>
                  <a:pt x="0" y="1003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3895508" y="7413737"/>
            <a:ext cx="917599" cy="802482"/>
          </a:xfrm>
          <a:custGeom>
            <a:avLst/>
            <a:gdLst/>
            <a:ahLst/>
            <a:cxnLst/>
            <a:rect l="l" t="t" r="r" b="b"/>
            <a:pathLst>
              <a:path w="917599" h="802482">
                <a:moveTo>
                  <a:pt x="0" y="0"/>
                </a:moveTo>
                <a:lnTo>
                  <a:pt x="917599" y="0"/>
                </a:lnTo>
                <a:lnTo>
                  <a:pt x="917599" y="802482"/>
                </a:lnTo>
                <a:lnTo>
                  <a:pt x="0" y="802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6" name="Group 36"/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899021" y="3030482"/>
            <a:ext cx="8621129" cy="1877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8800" b="1" u="none" strike="noStrike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Company Background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11882" y="6160033"/>
            <a:ext cx="725757" cy="52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46"/>
              </a:lnSpc>
              <a:spcBef>
                <a:spcPct val="0"/>
              </a:spcBef>
            </a:pPr>
            <a:r>
              <a:rPr lang="en-US" sz="3161" b="1">
                <a:solidFill>
                  <a:srgbClr val="F8F8F8"/>
                </a:solidFill>
                <a:latin typeface="Poppins Bold"/>
                <a:ea typeface="Poppins Bold"/>
                <a:cs typeface="Poppins Bold"/>
                <a:sym typeface="Poppins Bold"/>
              </a:rPr>
              <a:t>1st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918761" y="6160033"/>
            <a:ext cx="871093" cy="52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46"/>
              </a:lnSpc>
              <a:spcBef>
                <a:spcPct val="0"/>
              </a:spcBef>
            </a:pPr>
            <a:r>
              <a:rPr lang="en-US" sz="3161" b="1">
                <a:solidFill>
                  <a:srgbClr val="F8F8F8"/>
                </a:solidFill>
                <a:latin typeface="Poppins Bold"/>
                <a:ea typeface="Poppins Bold"/>
                <a:cs typeface="Poppins Bold"/>
                <a:sym typeface="Poppins Bold"/>
              </a:rPr>
              <a:t>2nd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69325" y="6160033"/>
            <a:ext cx="725757" cy="52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46"/>
              </a:lnSpc>
              <a:spcBef>
                <a:spcPct val="0"/>
              </a:spcBef>
            </a:pPr>
            <a:r>
              <a:rPr lang="en-US" sz="3161" b="1">
                <a:solidFill>
                  <a:srgbClr val="F8F8F8"/>
                </a:solidFill>
                <a:latin typeface="Poppins Bold"/>
                <a:ea typeface="Poppins Bold"/>
                <a:cs typeface="Poppins Bold"/>
                <a:sym typeface="Poppins Bold"/>
              </a:rPr>
              <a:t>3rd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4D81DFD-2AFD-ABFB-0757-0109ED80BB6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49755"/>
            <a:ext cx="691476" cy="676663"/>
          </a:xfrm>
          <a:prstGeom prst="rect">
            <a:avLst/>
          </a:prstGeom>
        </p:spPr>
      </p:pic>
      <p:grpSp>
        <p:nvGrpSpPr>
          <p:cNvPr id="58" name="Group 8">
            <a:extLst>
              <a:ext uri="{FF2B5EF4-FFF2-40B4-BE49-F238E27FC236}">
                <a16:creationId xmlns:a16="http://schemas.microsoft.com/office/drawing/2014/main" id="{7D0CE281-52C8-7AEB-1547-2439938A1072}"/>
              </a:ext>
            </a:extLst>
          </p:cNvPr>
          <p:cNvGrpSpPr/>
          <p:nvPr/>
        </p:nvGrpSpPr>
        <p:grpSpPr>
          <a:xfrm rot="-10800000">
            <a:off x="8899021" y="5304715"/>
            <a:ext cx="8621133" cy="3336476"/>
            <a:chOff x="0" y="0"/>
            <a:chExt cx="2041606" cy="2794714"/>
          </a:xfrm>
        </p:grpSpPr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F9396F64-30FF-40CD-AA2E-2419BFCDB793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10">
              <a:extLst>
                <a:ext uri="{FF2B5EF4-FFF2-40B4-BE49-F238E27FC236}">
                  <a16:creationId xmlns:a16="http://schemas.microsoft.com/office/drawing/2014/main" id="{BF9051C3-5F7D-B92D-8035-B4BC74F7E6F2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976A47A3-E261-3F4A-5B32-8745768271E9}"/>
              </a:ext>
            </a:extLst>
          </p:cNvPr>
          <p:cNvSpPr txBox="1"/>
          <p:nvPr/>
        </p:nvSpPr>
        <p:spPr>
          <a:xfrm>
            <a:off x="9043143" y="5634125"/>
            <a:ext cx="82300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AtliQ Hardware</a:t>
            </a:r>
            <a:r>
              <a:rPr lang="en-IN" sz="2400" dirty="0"/>
              <a:t> is a fast-growing global company that sells </a:t>
            </a:r>
            <a:r>
              <a:rPr lang="en-IN" sz="2400" b="1" dirty="0"/>
              <a:t>computers and accessories</a:t>
            </a:r>
            <a:r>
              <a:rPr lang="en-IN" sz="2400" dirty="0"/>
              <a:t> through three key channels: </a:t>
            </a:r>
            <a:r>
              <a:rPr lang="en-IN" sz="2400" b="1" dirty="0"/>
              <a:t>Retailers, Direct Sales, and Distributors</a:t>
            </a:r>
            <a:r>
              <a:rPr lang="en-IN" sz="2400" dirty="0"/>
              <a:t>.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The company operates across </a:t>
            </a:r>
            <a:r>
              <a:rPr lang="en-IN" sz="2400" b="1" dirty="0"/>
              <a:t>Asia Pacific, Latin America, North America, and Europe</a:t>
            </a:r>
            <a:r>
              <a:rPr lang="en-IN" sz="2400" dirty="0"/>
              <a:t>, serving customers across multiple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74912" y="4727876"/>
            <a:ext cx="2396130" cy="4174121"/>
            <a:chOff x="0" y="0"/>
            <a:chExt cx="371223" cy="6466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223" cy="646681"/>
            </a:xfrm>
            <a:custGeom>
              <a:avLst/>
              <a:gdLst/>
              <a:ahLst/>
              <a:cxnLst/>
              <a:rect l="l" t="t" r="r" b="b"/>
              <a:pathLst>
                <a:path w="371223" h="646681">
                  <a:moveTo>
                    <a:pt x="74313" y="0"/>
                  </a:moveTo>
                  <a:lnTo>
                    <a:pt x="296910" y="0"/>
                  </a:lnTo>
                  <a:cubicBezTo>
                    <a:pt x="316619" y="0"/>
                    <a:pt x="335521" y="7829"/>
                    <a:pt x="349457" y="21766"/>
                  </a:cubicBezTo>
                  <a:cubicBezTo>
                    <a:pt x="363394" y="35702"/>
                    <a:pt x="371223" y="54604"/>
                    <a:pt x="371223" y="74313"/>
                  </a:cubicBezTo>
                  <a:lnTo>
                    <a:pt x="371223" y="572367"/>
                  </a:lnTo>
                  <a:cubicBezTo>
                    <a:pt x="371223" y="592076"/>
                    <a:pt x="363394" y="610978"/>
                    <a:pt x="349457" y="624915"/>
                  </a:cubicBezTo>
                  <a:cubicBezTo>
                    <a:pt x="335521" y="638851"/>
                    <a:pt x="316619" y="646681"/>
                    <a:pt x="296910" y="646681"/>
                  </a:cubicBezTo>
                  <a:lnTo>
                    <a:pt x="74313" y="646681"/>
                  </a:lnTo>
                  <a:cubicBezTo>
                    <a:pt x="54604" y="646681"/>
                    <a:pt x="35702" y="638851"/>
                    <a:pt x="21766" y="624915"/>
                  </a:cubicBezTo>
                  <a:cubicBezTo>
                    <a:pt x="7829" y="610978"/>
                    <a:pt x="0" y="592076"/>
                    <a:pt x="0" y="572367"/>
                  </a:cubicBezTo>
                  <a:lnTo>
                    <a:pt x="0" y="74313"/>
                  </a:lnTo>
                  <a:cubicBezTo>
                    <a:pt x="0" y="54604"/>
                    <a:pt x="7829" y="35702"/>
                    <a:pt x="21766" y="21766"/>
                  </a:cubicBezTo>
                  <a:cubicBezTo>
                    <a:pt x="35702" y="7829"/>
                    <a:pt x="54604" y="0"/>
                    <a:pt x="74313" y="0"/>
                  </a:cubicBezTo>
                  <a:close/>
                </a:path>
              </a:pathLst>
            </a:custGeom>
            <a:blipFill>
              <a:blip r:embed="rId2"/>
              <a:stretch>
                <a:fillRect l="-34415" r="-13830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387491" y="4727876"/>
            <a:ext cx="2396130" cy="4174121"/>
            <a:chOff x="0" y="0"/>
            <a:chExt cx="371223" cy="6466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1223" cy="646681"/>
            </a:xfrm>
            <a:custGeom>
              <a:avLst/>
              <a:gdLst/>
              <a:ahLst/>
              <a:cxnLst/>
              <a:rect l="l" t="t" r="r" b="b"/>
              <a:pathLst>
                <a:path w="371223" h="646681">
                  <a:moveTo>
                    <a:pt x="74313" y="0"/>
                  </a:moveTo>
                  <a:lnTo>
                    <a:pt x="296910" y="0"/>
                  </a:lnTo>
                  <a:cubicBezTo>
                    <a:pt x="316619" y="0"/>
                    <a:pt x="335521" y="7829"/>
                    <a:pt x="349457" y="21766"/>
                  </a:cubicBezTo>
                  <a:cubicBezTo>
                    <a:pt x="363394" y="35702"/>
                    <a:pt x="371223" y="54604"/>
                    <a:pt x="371223" y="74313"/>
                  </a:cubicBezTo>
                  <a:lnTo>
                    <a:pt x="371223" y="572367"/>
                  </a:lnTo>
                  <a:cubicBezTo>
                    <a:pt x="371223" y="592076"/>
                    <a:pt x="363394" y="610978"/>
                    <a:pt x="349457" y="624915"/>
                  </a:cubicBezTo>
                  <a:cubicBezTo>
                    <a:pt x="335521" y="638851"/>
                    <a:pt x="316619" y="646681"/>
                    <a:pt x="296910" y="646681"/>
                  </a:cubicBezTo>
                  <a:lnTo>
                    <a:pt x="74313" y="646681"/>
                  </a:lnTo>
                  <a:cubicBezTo>
                    <a:pt x="54604" y="646681"/>
                    <a:pt x="35702" y="638851"/>
                    <a:pt x="21766" y="624915"/>
                  </a:cubicBezTo>
                  <a:cubicBezTo>
                    <a:pt x="7829" y="610978"/>
                    <a:pt x="0" y="592076"/>
                    <a:pt x="0" y="572367"/>
                  </a:cubicBezTo>
                  <a:lnTo>
                    <a:pt x="0" y="74313"/>
                  </a:lnTo>
                  <a:cubicBezTo>
                    <a:pt x="0" y="54604"/>
                    <a:pt x="7829" y="35702"/>
                    <a:pt x="21766" y="21766"/>
                  </a:cubicBezTo>
                  <a:cubicBezTo>
                    <a:pt x="35702" y="7829"/>
                    <a:pt x="54604" y="0"/>
                    <a:pt x="74313" y="0"/>
                  </a:cubicBezTo>
                  <a:close/>
                </a:path>
              </a:pathLst>
            </a:custGeom>
            <a:blipFill>
              <a:blip r:embed="rId3"/>
              <a:stretch>
                <a:fillRect l="-166550" r="-3974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16241" y="4727876"/>
            <a:ext cx="2396130" cy="4174121"/>
            <a:chOff x="0" y="0"/>
            <a:chExt cx="371223" cy="64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1223" cy="646681"/>
            </a:xfrm>
            <a:custGeom>
              <a:avLst/>
              <a:gdLst/>
              <a:ahLst/>
              <a:cxnLst/>
              <a:rect l="l" t="t" r="r" b="b"/>
              <a:pathLst>
                <a:path w="371223" h="646681">
                  <a:moveTo>
                    <a:pt x="74313" y="0"/>
                  </a:moveTo>
                  <a:lnTo>
                    <a:pt x="296910" y="0"/>
                  </a:lnTo>
                  <a:cubicBezTo>
                    <a:pt x="316619" y="0"/>
                    <a:pt x="335521" y="7829"/>
                    <a:pt x="349457" y="21766"/>
                  </a:cubicBezTo>
                  <a:cubicBezTo>
                    <a:pt x="363394" y="35702"/>
                    <a:pt x="371223" y="54604"/>
                    <a:pt x="371223" y="74313"/>
                  </a:cubicBezTo>
                  <a:lnTo>
                    <a:pt x="371223" y="572367"/>
                  </a:lnTo>
                  <a:cubicBezTo>
                    <a:pt x="371223" y="592076"/>
                    <a:pt x="363394" y="610978"/>
                    <a:pt x="349457" y="624915"/>
                  </a:cubicBezTo>
                  <a:cubicBezTo>
                    <a:pt x="335521" y="638851"/>
                    <a:pt x="316619" y="646681"/>
                    <a:pt x="296910" y="646681"/>
                  </a:cubicBezTo>
                  <a:lnTo>
                    <a:pt x="74313" y="646681"/>
                  </a:lnTo>
                  <a:cubicBezTo>
                    <a:pt x="54604" y="646681"/>
                    <a:pt x="35702" y="638851"/>
                    <a:pt x="21766" y="624915"/>
                  </a:cubicBezTo>
                  <a:cubicBezTo>
                    <a:pt x="7829" y="610978"/>
                    <a:pt x="0" y="592076"/>
                    <a:pt x="0" y="572367"/>
                  </a:cubicBezTo>
                  <a:lnTo>
                    <a:pt x="0" y="74313"/>
                  </a:lnTo>
                  <a:cubicBezTo>
                    <a:pt x="0" y="54604"/>
                    <a:pt x="7829" y="35702"/>
                    <a:pt x="21766" y="21766"/>
                  </a:cubicBezTo>
                  <a:cubicBezTo>
                    <a:pt x="35702" y="7829"/>
                    <a:pt x="54604" y="0"/>
                    <a:pt x="74313" y="0"/>
                  </a:cubicBezTo>
                  <a:close/>
                </a:path>
              </a:pathLst>
            </a:custGeom>
            <a:blipFill>
              <a:blip r:embed="rId4"/>
              <a:stretch>
                <a:fillRect l="-80733" r="-807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403533" y="2373306"/>
            <a:ext cx="8896350" cy="1877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Problem Statement</a:t>
            </a:r>
            <a:endParaRPr lang="en-US" sz="8800" b="1" u="none" strike="noStrike" dirty="0">
              <a:solidFill>
                <a:srgbClr val="000000"/>
              </a:solidFill>
              <a:latin typeface="Georgia Pro Bold"/>
              <a:ea typeface="Georgia Pro Bold"/>
              <a:cs typeface="Georgia Pro Bold"/>
              <a:sym typeface="Georgia Pro Bold"/>
            </a:endParaRPr>
          </a:p>
        </p:txBody>
      </p:sp>
      <p:grpSp>
        <p:nvGrpSpPr>
          <p:cNvPr id="33" name="Group 8">
            <a:extLst>
              <a:ext uri="{FF2B5EF4-FFF2-40B4-BE49-F238E27FC236}">
                <a16:creationId xmlns:a16="http://schemas.microsoft.com/office/drawing/2014/main" id="{177EC798-F103-6562-9AE4-A54D87510E6D}"/>
              </a:ext>
            </a:extLst>
          </p:cNvPr>
          <p:cNvGrpSpPr/>
          <p:nvPr/>
        </p:nvGrpSpPr>
        <p:grpSpPr>
          <a:xfrm rot="-10800000">
            <a:off x="569251" y="3924299"/>
            <a:ext cx="7162800" cy="4800601"/>
            <a:chOff x="0" y="0"/>
            <a:chExt cx="2041606" cy="2794714"/>
          </a:xfrm>
        </p:grpSpPr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8B5EB52A-2B08-764B-956E-4927C331F6CB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23A0BFDF-3DA2-3D56-4227-D109E71F68BA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433081F1-5D04-B5B6-B747-50EC59F072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93521"/>
            <a:ext cx="691476" cy="67666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B5773EF-C7FA-F254-1F6E-C77754FF09A5}"/>
              </a:ext>
            </a:extLst>
          </p:cNvPr>
          <p:cNvSpPr txBox="1"/>
          <p:nvPr/>
        </p:nvSpPr>
        <p:spPr>
          <a:xfrm>
            <a:off x="1189025" y="4074789"/>
            <a:ext cx="62785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AtliQ Hardware faced </a:t>
            </a:r>
            <a:r>
              <a:rPr lang="en-IN" sz="2400" b="1" dirty="0"/>
              <a:t>financial losses after entering the US market without sufficient data-driven market insights</a:t>
            </a:r>
            <a:r>
              <a:rPr lang="en-IN" sz="2400" dirty="0"/>
              <a:t>. As the business expanded globally, decision-makers needed a </a:t>
            </a:r>
            <a:r>
              <a:rPr lang="en-IN" sz="2400" b="1" dirty="0"/>
              <a:t>360° view of sales, finance, products, customers, and regional performance</a:t>
            </a:r>
            <a:r>
              <a:rPr lang="en-IN" sz="2400" dirty="0"/>
              <a:t>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To compete with data-driven organizations, AtliQ Hardware recognized the need for a </a:t>
            </a:r>
            <a:r>
              <a:rPr lang="en-IN" sz="2400" b="1" dirty="0"/>
              <a:t>centralized analytics solution</a:t>
            </a:r>
            <a:r>
              <a:rPr lang="en-IN" sz="2400" dirty="0"/>
              <a:t> that transforms raw data into actionable insights and enables </a:t>
            </a:r>
            <a:r>
              <a:rPr lang="en-IN" sz="2400" b="1" dirty="0"/>
              <a:t>faster, smarter business decisions</a:t>
            </a:r>
            <a:r>
              <a:rPr lang="en-IN" sz="2400" dirty="0"/>
              <a:t>.</a:t>
            </a:r>
          </a:p>
        </p:txBody>
      </p:sp>
      <p:grpSp>
        <p:nvGrpSpPr>
          <p:cNvPr id="42" name="Group 20">
            <a:extLst>
              <a:ext uri="{FF2B5EF4-FFF2-40B4-BE49-F238E27FC236}">
                <a16:creationId xmlns:a16="http://schemas.microsoft.com/office/drawing/2014/main" id="{AB466C53-5D56-FCDA-63EB-B987D69992DB}"/>
              </a:ext>
            </a:extLst>
          </p:cNvPr>
          <p:cNvGrpSpPr/>
          <p:nvPr/>
        </p:nvGrpSpPr>
        <p:grpSpPr>
          <a:xfrm>
            <a:off x="736263" y="4152900"/>
            <a:ext cx="285750" cy="285750"/>
            <a:chOff x="0" y="0"/>
            <a:chExt cx="536872" cy="536872"/>
          </a:xfrm>
        </p:grpSpPr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37484615-904F-88B1-5C47-279FB2DB2675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22">
              <a:extLst>
                <a:ext uri="{FF2B5EF4-FFF2-40B4-BE49-F238E27FC236}">
                  <a16:creationId xmlns:a16="http://schemas.microsoft.com/office/drawing/2014/main" id="{786A98AB-689E-D71D-F611-B1B64F570890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45" name="Group 20">
            <a:extLst>
              <a:ext uri="{FF2B5EF4-FFF2-40B4-BE49-F238E27FC236}">
                <a16:creationId xmlns:a16="http://schemas.microsoft.com/office/drawing/2014/main" id="{EEECDA9D-5F1B-5A31-23E1-03B2918A5F5B}"/>
              </a:ext>
            </a:extLst>
          </p:cNvPr>
          <p:cNvGrpSpPr/>
          <p:nvPr/>
        </p:nvGrpSpPr>
        <p:grpSpPr>
          <a:xfrm>
            <a:off x="736263" y="6809210"/>
            <a:ext cx="285750" cy="285750"/>
            <a:chOff x="0" y="0"/>
            <a:chExt cx="536872" cy="536872"/>
          </a:xfrm>
        </p:grpSpPr>
        <p:sp>
          <p:nvSpPr>
            <p:cNvPr id="46" name="Freeform 21">
              <a:extLst>
                <a:ext uri="{FF2B5EF4-FFF2-40B4-BE49-F238E27FC236}">
                  <a16:creationId xmlns:a16="http://schemas.microsoft.com/office/drawing/2014/main" id="{3EBF0BB1-AD8A-FD22-4A04-D6276426DC61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1E4462E7-8196-B93E-237C-F6E29E35ACAA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F77A-2B8C-30E7-BD6D-B996675E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90F973-E942-6F32-0D00-CB98DDA64FC3}"/>
              </a:ext>
            </a:extLst>
          </p:cNvPr>
          <p:cNvGrpSpPr/>
          <p:nvPr/>
        </p:nvGrpSpPr>
        <p:grpSpPr>
          <a:xfrm>
            <a:off x="11474912" y="4615810"/>
            <a:ext cx="2396130" cy="4174121"/>
            <a:chOff x="0" y="0"/>
            <a:chExt cx="371223" cy="6466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611CF8-21CE-50E0-5DDD-20DE4E9522F8}"/>
                </a:ext>
              </a:extLst>
            </p:cNvPr>
            <p:cNvSpPr/>
            <p:nvPr/>
          </p:nvSpPr>
          <p:spPr>
            <a:xfrm>
              <a:off x="0" y="0"/>
              <a:ext cx="371223" cy="646681"/>
            </a:xfrm>
            <a:custGeom>
              <a:avLst/>
              <a:gdLst/>
              <a:ahLst/>
              <a:cxnLst/>
              <a:rect l="l" t="t" r="r" b="b"/>
              <a:pathLst>
                <a:path w="371223" h="646681">
                  <a:moveTo>
                    <a:pt x="74313" y="0"/>
                  </a:moveTo>
                  <a:lnTo>
                    <a:pt x="296910" y="0"/>
                  </a:lnTo>
                  <a:cubicBezTo>
                    <a:pt x="316619" y="0"/>
                    <a:pt x="335521" y="7829"/>
                    <a:pt x="349457" y="21766"/>
                  </a:cubicBezTo>
                  <a:cubicBezTo>
                    <a:pt x="363394" y="35702"/>
                    <a:pt x="371223" y="54604"/>
                    <a:pt x="371223" y="74313"/>
                  </a:cubicBezTo>
                  <a:lnTo>
                    <a:pt x="371223" y="572367"/>
                  </a:lnTo>
                  <a:cubicBezTo>
                    <a:pt x="371223" y="592076"/>
                    <a:pt x="363394" y="610978"/>
                    <a:pt x="349457" y="624915"/>
                  </a:cubicBezTo>
                  <a:cubicBezTo>
                    <a:pt x="335521" y="638851"/>
                    <a:pt x="316619" y="646681"/>
                    <a:pt x="296910" y="646681"/>
                  </a:cubicBezTo>
                  <a:lnTo>
                    <a:pt x="74313" y="646681"/>
                  </a:lnTo>
                  <a:cubicBezTo>
                    <a:pt x="54604" y="646681"/>
                    <a:pt x="35702" y="638851"/>
                    <a:pt x="21766" y="624915"/>
                  </a:cubicBezTo>
                  <a:cubicBezTo>
                    <a:pt x="7829" y="610978"/>
                    <a:pt x="0" y="592076"/>
                    <a:pt x="0" y="572367"/>
                  </a:cubicBezTo>
                  <a:lnTo>
                    <a:pt x="0" y="74313"/>
                  </a:lnTo>
                  <a:cubicBezTo>
                    <a:pt x="0" y="54604"/>
                    <a:pt x="7829" y="35702"/>
                    <a:pt x="21766" y="21766"/>
                  </a:cubicBezTo>
                  <a:cubicBezTo>
                    <a:pt x="35702" y="7829"/>
                    <a:pt x="54604" y="0"/>
                    <a:pt x="74313" y="0"/>
                  </a:cubicBezTo>
                  <a:close/>
                </a:path>
              </a:pathLst>
            </a:custGeom>
            <a:blipFill>
              <a:blip r:embed="rId2"/>
              <a:stretch>
                <a:fillRect l="-34415" r="-13830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A63802A-BE55-F7B1-7415-6EB9B2C33F43}"/>
              </a:ext>
            </a:extLst>
          </p:cNvPr>
          <p:cNvGrpSpPr/>
          <p:nvPr/>
        </p:nvGrpSpPr>
        <p:grpSpPr>
          <a:xfrm>
            <a:off x="8387491" y="4592282"/>
            <a:ext cx="2396130" cy="4174121"/>
            <a:chOff x="0" y="0"/>
            <a:chExt cx="371223" cy="64668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5C95388-72E9-AFBD-E78F-421D35794538}"/>
                </a:ext>
              </a:extLst>
            </p:cNvPr>
            <p:cNvSpPr/>
            <p:nvPr/>
          </p:nvSpPr>
          <p:spPr>
            <a:xfrm>
              <a:off x="0" y="0"/>
              <a:ext cx="371223" cy="646681"/>
            </a:xfrm>
            <a:custGeom>
              <a:avLst/>
              <a:gdLst/>
              <a:ahLst/>
              <a:cxnLst/>
              <a:rect l="l" t="t" r="r" b="b"/>
              <a:pathLst>
                <a:path w="371223" h="646681">
                  <a:moveTo>
                    <a:pt x="74313" y="0"/>
                  </a:moveTo>
                  <a:lnTo>
                    <a:pt x="296910" y="0"/>
                  </a:lnTo>
                  <a:cubicBezTo>
                    <a:pt x="316619" y="0"/>
                    <a:pt x="335521" y="7829"/>
                    <a:pt x="349457" y="21766"/>
                  </a:cubicBezTo>
                  <a:cubicBezTo>
                    <a:pt x="363394" y="35702"/>
                    <a:pt x="371223" y="54604"/>
                    <a:pt x="371223" y="74313"/>
                  </a:cubicBezTo>
                  <a:lnTo>
                    <a:pt x="371223" y="572367"/>
                  </a:lnTo>
                  <a:cubicBezTo>
                    <a:pt x="371223" y="592076"/>
                    <a:pt x="363394" y="610978"/>
                    <a:pt x="349457" y="624915"/>
                  </a:cubicBezTo>
                  <a:cubicBezTo>
                    <a:pt x="335521" y="638851"/>
                    <a:pt x="316619" y="646681"/>
                    <a:pt x="296910" y="646681"/>
                  </a:cubicBezTo>
                  <a:lnTo>
                    <a:pt x="74313" y="646681"/>
                  </a:lnTo>
                  <a:cubicBezTo>
                    <a:pt x="54604" y="646681"/>
                    <a:pt x="35702" y="638851"/>
                    <a:pt x="21766" y="624915"/>
                  </a:cubicBezTo>
                  <a:cubicBezTo>
                    <a:pt x="7829" y="610978"/>
                    <a:pt x="0" y="592076"/>
                    <a:pt x="0" y="572367"/>
                  </a:cubicBezTo>
                  <a:lnTo>
                    <a:pt x="0" y="74313"/>
                  </a:lnTo>
                  <a:cubicBezTo>
                    <a:pt x="0" y="54604"/>
                    <a:pt x="7829" y="35702"/>
                    <a:pt x="21766" y="21766"/>
                  </a:cubicBezTo>
                  <a:cubicBezTo>
                    <a:pt x="35702" y="7829"/>
                    <a:pt x="54604" y="0"/>
                    <a:pt x="74313" y="0"/>
                  </a:cubicBezTo>
                  <a:close/>
                </a:path>
              </a:pathLst>
            </a:custGeom>
            <a:blipFill>
              <a:blip r:embed="rId3"/>
              <a:stretch>
                <a:fillRect l="-166550" r="-3974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2CAA99A-6709-6725-0232-BDD8F77AFCAF}"/>
              </a:ext>
            </a:extLst>
          </p:cNvPr>
          <p:cNvGrpSpPr/>
          <p:nvPr/>
        </p:nvGrpSpPr>
        <p:grpSpPr>
          <a:xfrm>
            <a:off x="14604209" y="4667717"/>
            <a:ext cx="2396130" cy="4174121"/>
            <a:chOff x="0" y="0"/>
            <a:chExt cx="371223" cy="6466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5A1794-73A0-9E1E-8510-C58975888C20}"/>
                </a:ext>
              </a:extLst>
            </p:cNvPr>
            <p:cNvSpPr/>
            <p:nvPr/>
          </p:nvSpPr>
          <p:spPr>
            <a:xfrm>
              <a:off x="0" y="0"/>
              <a:ext cx="371223" cy="646681"/>
            </a:xfrm>
            <a:custGeom>
              <a:avLst/>
              <a:gdLst/>
              <a:ahLst/>
              <a:cxnLst/>
              <a:rect l="l" t="t" r="r" b="b"/>
              <a:pathLst>
                <a:path w="371223" h="646681">
                  <a:moveTo>
                    <a:pt x="74313" y="0"/>
                  </a:moveTo>
                  <a:lnTo>
                    <a:pt x="296910" y="0"/>
                  </a:lnTo>
                  <a:cubicBezTo>
                    <a:pt x="316619" y="0"/>
                    <a:pt x="335521" y="7829"/>
                    <a:pt x="349457" y="21766"/>
                  </a:cubicBezTo>
                  <a:cubicBezTo>
                    <a:pt x="363394" y="35702"/>
                    <a:pt x="371223" y="54604"/>
                    <a:pt x="371223" y="74313"/>
                  </a:cubicBezTo>
                  <a:lnTo>
                    <a:pt x="371223" y="572367"/>
                  </a:lnTo>
                  <a:cubicBezTo>
                    <a:pt x="371223" y="592076"/>
                    <a:pt x="363394" y="610978"/>
                    <a:pt x="349457" y="624915"/>
                  </a:cubicBezTo>
                  <a:cubicBezTo>
                    <a:pt x="335521" y="638851"/>
                    <a:pt x="316619" y="646681"/>
                    <a:pt x="296910" y="646681"/>
                  </a:cubicBezTo>
                  <a:lnTo>
                    <a:pt x="74313" y="646681"/>
                  </a:lnTo>
                  <a:cubicBezTo>
                    <a:pt x="54604" y="646681"/>
                    <a:pt x="35702" y="638851"/>
                    <a:pt x="21766" y="624915"/>
                  </a:cubicBezTo>
                  <a:cubicBezTo>
                    <a:pt x="7829" y="610978"/>
                    <a:pt x="0" y="592076"/>
                    <a:pt x="0" y="572367"/>
                  </a:cubicBezTo>
                  <a:lnTo>
                    <a:pt x="0" y="74313"/>
                  </a:lnTo>
                  <a:cubicBezTo>
                    <a:pt x="0" y="54604"/>
                    <a:pt x="7829" y="35702"/>
                    <a:pt x="21766" y="21766"/>
                  </a:cubicBezTo>
                  <a:cubicBezTo>
                    <a:pt x="35702" y="7829"/>
                    <a:pt x="54604" y="0"/>
                    <a:pt x="74313" y="0"/>
                  </a:cubicBezTo>
                  <a:close/>
                </a:path>
              </a:pathLst>
            </a:custGeom>
            <a:blipFill>
              <a:blip r:embed="rId4"/>
              <a:stretch>
                <a:fillRect l="-80733" r="-807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56AAF1F-8860-84B3-3563-888CA58CCBC4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3674FAA-5BD3-6682-B977-8A802775F2B9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ABB3A34-2476-618B-6495-FF9806960116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7FF1662-BE3D-F9B5-C735-0E1F876D7422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44BB7C0-6DFB-91B2-BEEB-C7678E1E04BF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A758220-032C-2544-D182-C0ED57027022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832A095C-9EEE-B26D-E809-8FA88BD1A805}"/>
              </a:ext>
            </a:extLst>
          </p:cNvPr>
          <p:cNvSpPr txBox="1"/>
          <p:nvPr/>
        </p:nvSpPr>
        <p:spPr>
          <a:xfrm>
            <a:off x="8001000" y="2933700"/>
            <a:ext cx="10668000" cy="95385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lvl="0" indent="0">
              <a:lnSpc>
                <a:spcPts val="7200"/>
              </a:lnSpc>
              <a:spcBef>
                <a:spcPct val="0"/>
              </a:spcBef>
              <a:defRPr sz="6600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</a:defRPr>
            </a:lvl1pPr>
          </a:lstStyle>
          <a:p>
            <a:r>
              <a:rPr lang="en-IN" sz="8800" dirty="0"/>
              <a:t>Goals to Achieve</a:t>
            </a:r>
            <a:endParaRPr lang="en-US" sz="8800" dirty="0">
              <a:sym typeface="Georgia Pro Bold"/>
            </a:endParaRPr>
          </a:p>
        </p:txBody>
      </p:sp>
      <p:grpSp>
        <p:nvGrpSpPr>
          <p:cNvPr id="33" name="Group 8">
            <a:extLst>
              <a:ext uri="{FF2B5EF4-FFF2-40B4-BE49-F238E27FC236}">
                <a16:creationId xmlns:a16="http://schemas.microsoft.com/office/drawing/2014/main" id="{E2CE93A2-BA8E-F072-4597-0A575A36FA8C}"/>
              </a:ext>
            </a:extLst>
          </p:cNvPr>
          <p:cNvGrpSpPr/>
          <p:nvPr/>
        </p:nvGrpSpPr>
        <p:grpSpPr>
          <a:xfrm rot="-10800000">
            <a:off x="549442" y="4305298"/>
            <a:ext cx="6994358" cy="3505202"/>
            <a:chOff x="0" y="0"/>
            <a:chExt cx="2041606" cy="2794714"/>
          </a:xfrm>
        </p:grpSpPr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CB9EBF89-C005-5704-404D-FBC2C72B4277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1A883F18-19BC-262B-2E3C-0FF3DF62991B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0463D0D-5A52-A7F3-45EB-D9F164F0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93521"/>
            <a:ext cx="691476" cy="67666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F78A9AA-0AE3-FE4F-47A6-85FDD7510AB7}"/>
              </a:ext>
            </a:extLst>
          </p:cNvPr>
          <p:cNvSpPr txBox="1"/>
          <p:nvPr/>
        </p:nvSpPr>
        <p:spPr>
          <a:xfrm>
            <a:off x="767252" y="4534405"/>
            <a:ext cx="655873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The goal is to transform data from multiple departments into </a:t>
            </a:r>
            <a:r>
              <a:rPr lang="en-IN" sz="2400" b="1" dirty="0"/>
              <a:t>actionable business insights</a:t>
            </a:r>
            <a:r>
              <a:rPr lang="en-IN" sz="2400" dirty="0"/>
              <a:t> through an intuitive Power BI dashboard. By tracking key performance metrics, the solution aims to </a:t>
            </a:r>
            <a:r>
              <a:rPr lang="en-IN" sz="2400" b="1" dirty="0"/>
              <a:t>enable data-driven decisions, optimize product strategies, identify growth opportunities, and support smarter store expansion</a:t>
            </a:r>
            <a:r>
              <a:rPr lang="en-IN" sz="2400" dirty="0"/>
              <a:t> in the upcoming quarters.</a:t>
            </a:r>
          </a:p>
        </p:txBody>
      </p:sp>
    </p:spTree>
    <p:extLst>
      <p:ext uri="{BB962C8B-B14F-4D97-AF65-F5344CB8AC3E}">
        <p14:creationId xmlns:p14="http://schemas.microsoft.com/office/powerpoint/2010/main" val="373731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5D5D5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05659" y="2175113"/>
            <a:ext cx="13693943" cy="95385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8800" b="1" u="none" strike="noStrike" dirty="0">
                <a:solidFill>
                  <a:srgbClr val="EEB632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Data Collection Process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416B9F2-0AEA-5471-7D8A-016DD900F5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grpSp>
        <p:nvGrpSpPr>
          <p:cNvPr id="28" name="Group 8">
            <a:extLst>
              <a:ext uri="{FF2B5EF4-FFF2-40B4-BE49-F238E27FC236}">
                <a16:creationId xmlns:a16="http://schemas.microsoft.com/office/drawing/2014/main" id="{551B27F6-D739-316A-D88F-ED161519354F}"/>
              </a:ext>
            </a:extLst>
          </p:cNvPr>
          <p:cNvGrpSpPr/>
          <p:nvPr/>
        </p:nvGrpSpPr>
        <p:grpSpPr>
          <a:xfrm rot="-10800000">
            <a:off x="1032711" y="3786769"/>
            <a:ext cx="2324100" cy="923925"/>
            <a:chOff x="0" y="0"/>
            <a:chExt cx="2041606" cy="2794714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A8F16E2D-A309-F633-CADB-6D5ABF51EAC0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6401EE0B-33DF-AE6B-5CD6-B8ADC52FC1F9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220ADA0-9F8E-962A-1FA2-27288E1FB00D}"/>
              </a:ext>
            </a:extLst>
          </p:cNvPr>
          <p:cNvSpPr txBox="1"/>
          <p:nvPr/>
        </p:nvSpPr>
        <p:spPr>
          <a:xfrm>
            <a:off x="1194634" y="4078685"/>
            <a:ext cx="18508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/>
              <a:t>Data Sources</a:t>
            </a:r>
          </a:p>
        </p:txBody>
      </p:sp>
      <p:grpSp>
        <p:nvGrpSpPr>
          <p:cNvPr id="33" name="Group 8">
            <a:extLst>
              <a:ext uri="{FF2B5EF4-FFF2-40B4-BE49-F238E27FC236}">
                <a16:creationId xmlns:a16="http://schemas.microsoft.com/office/drawing/2014/main" id="{B79D3557-7010-B65A-234C-081D3280F00F}"/>
              </a:ext>
            </a:extLst>
          </p:cNvPr>
          <p:cNvGrpSpPr/>
          <p:nvPr/>
        </p:nvGrpSpPr>
        <p:grpSpPr>
          <a:xfrm rot="-10800000">
            <a:off x="990600" y="5602132"/>
            <a:ext cx="2324100" cy="3258313"/>
            <a:chOff x="0" y="0"/>
            <a:chExt cx="2041606" cy="2794714"/>
          </a:xfrm>
        </p:grpSpPr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2A6ABB46-7590-31BE-ED5C-3935A27018BA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5B7107BE-C75F-6CCE-8822-0A13B076658D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8">
            <a:extLst>
              <a:ext uri="{FF2B5EF4-FFF2-40B4-BE49-F238E27FC236}">
                <a16:creationId xmlns:a16="http://schemas.microsoft.com/office/drawing/2014/main" id="{B96222BB-F0A0-114C-F079-87416F5B6A88}"/>
              </a:ext>
            </a:extLst>
          </p:cNvPr>
          <p:cNvGrpSpPr/>
          <p:nvPr/>
        </p:nvGrpSpPr>
        <p:grpSpPr>
          <a:xfrm rot="-10800000">
            <a:off x="7402090" y="3781373"/>
            <a:ext cx="2275310" cy="962098"/>
            <a:chOff x="0" y="0"/>
            <a:chExt cx="2041606" cy="2794714"/>
          </a:xfrm>
        </p:grpSpPr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204429EC-9952-FAF8-69AD-A4C7284FDB72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10">
              <a:extLst>
                <a:ext uri="{FF2B5EF4-FFF2-40B4-BE49-F238E27FC236}">
                  <a16:creationId xmlns:a16="http://schemas.microsoft.com/office/drawing/2014/main" id="{31669BBC-8051-4D43-18F8-A36B7633C8C4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8">
            <a:extLst>
              <a:ext uri="{FF2B5EF4-FFF2-40B4-BE49-F238E27FC236}">
                <a16:creationId xmlns:a16="http://schemas.microsoft.com/office/drawing/2014/main" id="{3C0368A4-96F2-126D-DD7B-2DAF1966C54D}"/>
              </a:ext>
            </a:extLst>
          </p:cNvPr>
          <p:cNvGrpSpPr/>
          <p:nvPr/>
        </p:nvGrpSpPr>
        <p:grpSpPr>
          <a:xfrm rot="-10800000">
            <a:off x="4377418" y="5620418"/>
            <a:ext cx="1981200" cy="3157387"/>
            <a:chOff x="0" y="0"/>
            <a:chExt cx="2041606" cy="2794714"/>
          </a:xfrm>
        </p:grpSpPr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13AB0D82-554A-0A3A-0547-F8EB66C1BB4D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87B23923-3690-6AE0-754C-82E742AB3F56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8">
            <a:extLst>
              <a:ext uri="{FF2B5EF4-FFF2-40B4-BE49-F238E27FC236}">
                <a16:creationId xmlns:a16="http://schemas.microsoft.com/office/drawing/2014/main" id="{33B4448D-8BEF-AAFE-5F84-BB461C808385}"/>
              </a:ext>
            </a:extLst>
          </p:cNvPr>
          <p:cNvGrpSpPr/>
          <p:nvPr/>
        </p:nvGrpSpPr>
        <p:grpSpPr>
          <a:xfrm rot="-10800000">
            <a:off x="4398041" y="3781373"/>
            <a:ext cx="1981200" cy="942818"/>
            <a:chOff x="0" y="0"/>
            <a:chExt cx="2041606" cy="2794714"/>
          </a:xfrm>
        </p:grpSpPr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09F13265-9B2E-59ED-76EF-D430302FEF94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10">
              <a:extLst>
                <a:ext uri="{FF2B5EF4-FFF2-40B4-BE49-F238E27FC236}">
                  <a16:creationId xmlns:a16="http://schemas.microsoft.com/office/drawing/2014/main" id="{514EC80E-0AA3-32AB-9814-9CC83A1B5D7C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1AFDA70-DD60-5019-39AF-34AC6311CA33}"/>
              </a:ext>
            </a:extLst>
          </p:cNvPr>
          <p:cNvSpPr txBox="1"/>
          <p:nvPr/>
        </p:nvSpPr>
        <p:spPr>
          <a:xfrm>
            <a:off x="4418929" y="4075469"/>
            <a:ext cx="18508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T</a:t>
            </a:r>
            <a:r>
              <a:rPr lang="en-IN" sz="2200" b="1" dirty="0"/>
              <a:t>ools Used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884A22-8F07-5046-1786-60221D7F56D4}"/>
              </a:ext>
            </a:extLst>
          </p:cNvPr>
          <p:cNvSpPr txBox="1"/>
          <p:nvPr/>
        </p:nvSpPr>
        <p:spPr>
          <a:xfrm>
            <a:off x="1084375" y="5765778"/>
            <a:ext cx="20713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Collected business data from MySQL databases and Excel files, covering sales, customers, products, markets, and other key business areas.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55FC60-1DBF-1C80-439E-AFE9BA8906D3}"/>
              </a:ext>
            </a:extLst>
          </p:cNvPr>
          <p:cNvSpPr txBox="1"/>
          <p:nvPr/>
        </p:nvSpPr>
        <p:spPr>
          <a:xfrm>
            <a:off x="4461374" y="5768436"/>
            <a:ext cx="18508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Used MySQL queries to extract relevant data from structured databases and Excel to consolidate additional business data.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CF303E-9AD8-DD09-3CFE-602C1FB53D02}"/>
              </a:ext>
            </a:extLst>
          </p:cNvPr>
          <p:cNvSpPr txBox="1"/>
          <p:nvPr/>
        </p:nvSpPr>
        <p:spPr>
          <a:xfrm>
            <a:off x="7488485" y="3909407"/>
            <a:ext cx="20328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Data Preparation</a:t>
            </a:r>
          </a:p>
        </p:txBody>
      </p:sp>
      <p:grpSp>
        <p:nvGrpSpPr>
          <p:cNvPr id="59" name="Group 8">
            <a:extLst>
              <a:ext uri="{FF2B5EF4-FFF2-40B4-BE49-F238E27FC236}">
                <a16:creationId xmlns:a16="http://schemas.microsoft.com/office/drawing/2014/main" id="{1B3BC476-F0D9-29ED-164B-425348D5BD28}"/>
              </a:ext>
            </a:extLst>
          </p:cNvPr>
          <p:cNvGrpSpPr/>
          <p:nvPr/>
        </p:nvGrpSpPr>
        <p:grpSpPr>
          <a:xfrm rot="-10800000">
            <a:off x="13651449" y="3761291"/>
            <a:ext cx="1981200" cy="1001851"/>
            <a:chOff x="0" y="0"/>
            <a:chExt cx="2041606" cy="2794714"/>
          </a:xfrm>
        </p:grpSpPr>
        <p:sp>
          <p:nvSpPr>
            <p:cNvPr id="60" name="Freeform 9">
              <a:extLst>
                <a:ext uri="{FF2B5EF4-FFF2-40B4-BE49-F238E27FC236}">
                  <a16:creationId xmlns:a16="http://schemas.microsoft.com/office/drawing/2014/main" id="{4A04FCCF-ED04-30BC-2997-3014A858D0DE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10">
              <a:extLst>
                <a:ext uri="{FF2B5EF4-FFF2-40B4-BE49-F238E27FC236}">
                  <a16:creationId xmlns:a16="http://schemas.microsoft.com/office/drawing/2014/main" id="{F9B57F38-81CF-BA08-4DD1-93EA7E9AD65B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2" name="Group 8">
            <a:extLst>
              <a:ext uri="{FF2B5EF4-FFF2-40B4-BE49-F238E27FC236}">
                <a16:creationId xmlns:a16="http://schemas.microsoft.com/office/drawing/2014/main" id="{D6CACD1C-6FFD-DFEE-299B-BB2B54F9A06B}"/>
              </a:ext>
            </a:extLst>
          </p:cNvPr>
          <p:cNvGrpSpPr/>
          <p:nvPr/>
        </p:nvGrpSpPr>
        <p:grpSpPr>
          <a:xfrm rot="-10800000">
            <a:off x="10677835" y="3781372"/>
            <a:ext cx="1981200" cy="981772"/>
            <a:chOff x="0" y="0"/>
            <a:chExt cx="2041606" cy="2794714"/>
          </a:xfrm>
        </p:grpSpPr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98F8F05C-6A2D-8D3A-F435-FC4A60F8E94B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10">
              <a:extLst>
                <a:ext uri="{FF2B5EF4-FFF2-40B4-BE49-F238E27FC236}">
                  <a16:creationId xmlns:a16="http://schemas.microsoft.com/office/drawing/2014/main" id="{53A761D4-CE7A-2F0C-B355-834E31289D98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5" name="Group 8">
            <a:extLst>
              <a:ext uri="{FF2B5EF4-FFF2-40B4-BE49-F238E27FC236}">
                <a16:creationId xmlns:a16="http://schemas.microsoft.com/office/drawing/2014/main" id="{3C4E7B29-0BA0-E197-E185-C9757B37BC92}"/>
              </a:ext>
            </a:extLst>
          </p:cNvPr>
          <p:cNvGrpSpPr/>
          <p:nvPr/>
        </p:nvGrpSpPr>
        <p:grpSpPr>
          <a:xfrm rot="-10800000">
            <a:off x="7421334" y="5638490"/>
            <a:ext cx="2230463" cy="3221953"/>
            <a:chOff x="0" y="0"/>
            <a:chExt cx="2041606" cy="2794714"/>
          </a:xfrm>
        </p:grpSpPr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id="{898862FF-4216-1E9F-48F0-E9E1C6C45BC5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10">
              <a:extLst>
                <a:ext uri="{FF2B5EF4-FFF2-40B4-BE49-F238E27FC236}">
                  <a16:creationId xmlns:a16="http://schemas.microsoft.com/office/drawing/2014/main" id="{EE11A431-7460-D172-E979-297A8AAA331E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01F5166-D036-1D4F-72EA-7AAF1A35A6C3}"/>
              </a:ext>
            </a:extLst>
          </p:cNvPr>
          <p:cNvSpPr txBox="1"/>
          <p:nvPr/>
        </p:nvSpPr>
        <p:spPr>
          <a:xfrm>
            <a:off x="7552398" y="5765778"/>
            <a:ext cx="19050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Cleaned, transformed, and standardized the collected data to ensure consistency and accuracy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6D80C0-2369-37F3-B361-A5777EDEF6D3}"/>
              </a:ext>
            </a:extLst>
          </p:cNvPr>
          <p:cNvSpPr txBox="1"/>
          <p:nvPr/>
        </p:nvSpPr>
        <p:spPr>
          <a:xfrm>
            <a:off x="10750377" y="3894555"/>
            <a:ext cx="19086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Power </a:t>
            </a:r>
            <a:r>
              <a:rPr lang="en-IN" sz="2200" b="1" dirty="0"/>
              <a:t>BI Integration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9EDCA3-2E79-9D13-B62E-C8BC74217023}"/>
              </a:ext>
            </a:extLst>
          </p:cNvPr>
          <p:cNvSpPr txBox="1"/>
          <p:nvPr/>
        </p:nvSpPr>
        <p:spPr>
          <a:xfrm>
            <a:off x="13758437" y="3868063"/>
            <a:ext cx="17923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Business</a:t>
            </a:r>
            <a:r>
              <a:rPr lang="en-IN" b="1" dirty="0"/>
              <a:t> </a:t>
            </a:r>
            <a:r>
              <a:rPr lang="en-IN" sz="2200" b="1" dirty="0"/>
              <a:t>Insights</a:t>
            </a:r>
          </a:p>
        </p:txBody>
      </p:sp>
      <p:grpSp>
        <p:nvGrpSpPr>
          <p:cNvPr id="79" name="Group 8">
            <a:extLst>
              <a:ext uri="{FF2B5EF4-FFF2-40B4-BE49-F238E27FC236}">
                <a16:creationId xmlns:a16="http://schemas.microsoft.com/office/drawing/2014/main" id="{4BAA9581-AD1A-7D3F-8E42-32A6AD96DE92}"/>
              </a:ext>
            </a:extLst>
          </p:cNvPr>
          <p:cNvGrpSpPr/>
          <p:nvPr/>
        </p:nvGrpSpPr>
        <p:grpSpPr>
          <a:xfrm rot="-10800000">
            <a:off x="10714517" y="5620415"/>
            <a:ext cx="1981200" cy="3175674"/>
            <a:chOff x="0" y="0"/>
            <a:chExt cx="2041606" cy="2794714"/>
          </a:xfrm>
        </p:grpSpPr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671C4C80-8C35-5F52-51D3-39F8A281145B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TextBox 10">
              <a:extLst>
                <a:ext uri="{FF2B5EF4-FFF2-40B4-BE49-F238E27FC236}">
                  <a16:creationId xmlns:a16="http://schemas.microsoft.com/office/drawing/2014/main" id="{58E9484B-3EF0-08F7-FD33-F28B401B8EA2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2" name="Group 8">
            <a:extLst>
              <a:ext uri="{FF2B5EF4-FFF2-40B4-BE49-F238E27FC236}">
                <a16:creationId xmlns:a16="http://schemas.microsoft.com/office/drawing/2014/main" id="{8E006983-C939-9AA8-5E2E-4BD62C8C2EE5}"/>
              </a:ext>
            </a:extLst>
          </p:cNvPr>
          <p:cNvGrpSpPr/>
          <p:nvPr/>
        </p:nvGrpSpPr>
        <p:grpSpPr>
          <a:xfrm rot="-10800000">
            <a:off x="13758437" y="5602131"/>
            <a:ext cx="1981200" cy="3193957"/>
            <a:chOff x="0" y="0"/>
            <a:chExt cx="2041606" cy="2794714"/>
          </a:xfrm>
        </p:grpSpPr>
        <p:sp>
          <p:nvSpPr>
            <p:cNvPr id="83" name="Freeform 9">
              <a:extLst>
                <a:ext uri="{FF2B5EF4-FFF2-40B4-BE49-F238E27FC236}">
                  <a16:creationId xmlns:a16="http://schemas.microsoft.com/office/drawing/2014/main" id="{9DB78707-4296-FCBA-5E6B-E353D2B51CAA}"/>
                </a:ext>
              </a:extLst>
            </p:cNvPr>
            <p:cNvSpPr/>
            <p:nvPr/>
          </p:nvSpPr>
          <p:spPr>
            <a:xfrm>
              <a:off x="0" y="0"/>
              <a:ext cx="2041606" cy="2794714"/>
            </a:xfrm>
            <a:custGeom>
              <a:avLst/>
              <a:gdLst/>
              <a:ahLst/>
              <a:cxnLst/>
              <a:rect l="l" t="t" r="r" b="b"/>
              <a:pathLst>
                <a:path w="2041606" h="2794714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715523"/>
                  </a:lnTo>
                  <a:cubicBezTo>
                    <a:pt x="2041606" y="2736525"/>
                    <a:pt x="2033263" y="2756668"/>
                    <a:pt x="2018411" y="2771519"/>
                  </a:cubicBezTo>
                  <a:cubicBezTo>
                    <a:pt x="2003560" y="2786371"/>
                    <a:pt x="1983418" y="2794714"/>
                    <a:pt x="1962415" y="2794714"/>
                  </a:cubicBezTo>
                  <a:lnTo>
                    <a:pt x="79191" y="2794714"/>
                  </a:lnTo>
                  <a:cubicBezTo>
                    <a:pt x="35455" y="2794714"/>
                    <a:pt x="0" y="2759259"/>
                    <a:pt x="0" y="2715523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EEB632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TextBox 10">
              <a:extLst>
                <a:ext uri="{FF2B5EF4-FFF2-40B4-BE49-F238E27FC236}">
                  <a16:creationId xmlns:a16="http://schemas.microsoft.com/office/drawing/2014/main" id="{2109354A-982B-AFCC-A518-1B82C47C4647}"/>
                </a:ext>
              </a:extLst>
            </p:cNvPr>
            <p:cNvSpPr txBox="1"/>
            <p:nvPr/>
          </p:nvSpPr>
          <p:spPr>
            <a:xfrm>
              <a:off x="0" y="-57150"/>
              <a:ext cx="2041606" cy="285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69AF3DB-6DE0-8D4E-3F82-91250883689C}"/>
              </a:ext>
            </a:extLst>
          </p:cNvPr>
          <p:cNvSpPr txBox="1"/>
          <p:nvPr/>
        </p:nvSpPr>
        <p:spPr>
          <a:xfrm>
            <a:off x="10794847" y="5741240"/>
            <a:ext cx="18361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Loaded the prepared data into Power BI Desktop for data modeling, DAX calculations, and dashboard development.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4AF29C2-AE35-7CDD-3440-A0B54BB0947E}"/>
              </a:ext>
            </a:extLst>
          </p:cNvPr>
          <p:cNvSpPr txBox="1"/>
          <p:nvPr/>
        </p:nvSpPr>
        <p:spPr>
          <a:xfrm>
            <a:off x="13797663" y="5729101"/>
            <a:ext cx="1918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Created interactive dashboards to provide stakeholders with a 360° view of business performance and support data-driven decisions.</a:t>
            </a:r>
          </a:p>
        </p:txBody>
      </p:sp>
      <p:sp>
        <p:nvSpPr>
          <p:cNvPr id="89" name="Arrow: Notched Right 88">
            <a:extLst>
              <a:ext uri="{FF2B5EF4-FFF2-40B4-BE49-F238E27FC236}">
                <a16:creationId xmlns:a16="http://schemas.microsoft.com/office/drawing/2014/main" id="{7EE94D8D-7B07-1B63-5972-6187F1B8F1A8}"/>
              </a:ext>
            </a:extLst>
          </p:cNvPr>
          <p:cNvSpPr/>
          <p:nvPr/>
        </p:nvSpPr>
        <p:spPr>
          <a:xfrm>
            <a:off x="3500516" y="4011199"/>
            <a:ext cx="843049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Arrow: Notched Right 90">
            <a:extLst>
              <a:ext uri="{FF2B5EF4-FFF2-40B4-BE49-F238E27FC236}">
                <a16:creationId xmlns:a16="http://schemas.microsoft.com/office/drawing/2014/main" id="{D845E4C9-D8C1-7924-C566-43799C5BD9F9}"/>
              </a:ext>
            </a:extLst>
          </p:cNvPr>
          <p:cNvSpPr/>
          <p:nvPr/>
        </p:nvSpPr>
        <p:spPr>
          <a:xfrm rot="5400000">
            <a:off x="1670231" y="4877376"/>
            <a:ext cx="691940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Arrow: Notched Right 92">
            <a:extLst>
              <a:ext uri="{FF2B5EF4-FFF2-40B4-BE49-F238E27FC236}">
                <a16:creationId xmlns:a16="http://schemas.microsoft.com/office/drawing/2014/main" id="{CEA3C4C9-8DBB-7A13-E30E-6CC744EA0F37}"/>
              </a:ext>
            </a:extLst>
          </p:cNvPr>
          <p:cNvSpPr/>
          <p:nvPr/>
        </p:nvSpPr>
        <p:spPr>
          <a:xfrm>
            <a:off x="6462376" y="4011199"/>
            <a:ext cx="843049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Arrow: Notched Right 94">
            <a:extLst>
              <a:ext uri="{FF2B5EF4-FFF2-40B4-BE49-F238E27FC236}">
                <a16:creationId xmlns:a16="http://schemas.microsoft.com/office/drawing/2014/main" id="{7A9B1F72-289F-E467-004D-8EC83A3CD428}"/>
              </a:ext>
            </a:extLst>
          </p:cNvPr>
          <p:cNvSpPr/>
          <p:nvPr/>
        </p:nvSpPr>
        <p:spPr>
          <a:xfrm rot="5400000">
            <a:off x="4998388" y="4884783"/>
            <a:ext cx="691940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Arrow: Notched Right 96">
            <a:extLst>
              <a:ext uri="{FF2B5EF4-FFF2-40B4-BE49-F238E27FC236}">
                <a16:creationId xmlns:a16="http://schemas.microsoft.com/office/drawing/2014/main" id="{8EE5E8A5-8A7F-088F-8E23-1339A868A8EC}"/>
              </a:ext>
            </a:extLst>
          </p:cNvPr>
          <p:cNvSpPr/>
          <p:nvPr/>
        </p:nvSpPr>
        <p:spPr>
          <a:xfrm>
            <a:off x="9756093" y="3984776"/>
            <a:ext cx="843049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Arrow: Notched Right 98">
            <a:extLst>
              <a:ext uri="{FF2B5EF4-FFF2-40B4-BE49-F238E27FC236}">
                <a16:creationId xmlns:a16="http://schemas.microsoft.com/office/drawing/2014/main" id="{155868BC-2FFF-9BFF-FDCF-9A0C012852F0}"/>
              </a:ext>
            </a:extLst>
          </p:cNvPr>
          <p:cNvSpPr/>
          <p:nvPr/>
        </p:nvSpPr>
        <p:spPr>
          <a:xfrm>
            <a:off x="12713665" y="3984775"/>
            <a:ext cx="843049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Arrow: Notched Right 100">
            <a:extLst>
              <a:ext uri="{FF2B5EF4-FFF2-40B4-BE49-F238E27FC236}">
                <a16:creationId xmlns:a16="http://schemas.microsoft.com/office/drawing/2014/main" id="{3FD34319-005B-A84B-06F5-AC234AE9238D}"/>
              </a:ext>
            </a:extLst>
          </p:cNvPr>
          <p:cNvSpPr/>
          <p:nvPr/>
        </p:nvSpPr>
        <p:spPr>
          <a:xfrm rot="5400000">
            <a:off x="11289215" y="4912304"/>
            <a:ext cx="691940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Arrow: Notched Right 102">
            <a:extLst>
              <a:ext uri="{FF2B5EF4-FFF2-40B4-BE49-F238E27FC236}">
                <a16:creationId xmlns:a16="http://schemas.microsoft.com/office/drawing/2014/main" id="{1DAD3836-BD51-69E1-EF0F-DF2A410D7036}"/>
              </a:ext>
            </a:extLst>
          </p:cNvPr>
          <p:cNvSpPr/>
          <p:nvPr/>
        </p:nvSpPr>
        <p:spPr>
          <a:xfrm rot="5400000">
            <a:off x="8099041" y="4922948"/>
            <a:ext cx="713224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Arrow: Notched Right 104">
            <a:extLst>
              <a:ext uri="{FF2B5EF4-FFF2-40B4-BE49-F238E27FC236}">
                <a16:creationId xmlns:a16="http://schemas.microsoft.com/office/drawing/2014/main" id="{A5DCBAED-2E09-CA45-F519-B3AB614CEE23}"/>
              </a:ext>
            </a:extLst>
          </p:cNvPr>
          <p:cNvSpPr/>
          <p:nvPr/>
        </p:nvSpPr>
        <p:spPr>
          <a:xfrm rot="5400000">
            <a:off x="14296079" y="4862354"/>
            <a:ext cx="691940" cy="589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116A-634F-338E-5636-D90E68F6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F3126CCF-359A-3048-AEA9-39FE55784EAD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FBC9257-8B92-C646-984B-3881923B1339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05F180D-0E01-0DD3-1106-355A163FEC48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4955E75-EF9D-D56C-359C-C5DDEA265202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A59A986-FD6A-AEA3-AC62-EF4D9D04E51D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FDB9346-E32A-55D4-09FA-6D4447C8B297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7BE03216-7425-405B-28E5-85CE1FDDF2B6}"/>
              </a:ext>
            </a:extLst>
          </p:cNvPr>
          <p:cNvSpPr txBox="1"/>
          <p:nvPr/>
        </p:nvSpPr>
        <p:spPr>
          <a:xfrm>
            <a:off x="228600" y="1810461"/>
            <a:ext cx="12344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Key Insights From Sales View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4665FC5-564D-5DAF-7781-B82185383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grpSp>
        <p:nvGrpSpPr>
          <p:cNvPr id="6" name="Group 16">
            <a:extLst>
              <a:ext uri="{FF2B5EF4-FFF2-40B4-BE49-F238E27FC236}">
                <a16:creationId xmlns:a16="http://schemas.microsoft.com/office/drawing/2014/main" id="{7AFBCD0A-64B5-6BD4-5AE1-74CE17299367}"/>
              </a:ext>
            </a:extLst>
          </p:cNvPr>
          <p:cNvGrpSpPr/>
          <p:nvPr/>
        </p:nvGrpSpPr>
        <p:grpSpPr>
          <a:xfrm>
            <a:off x="0" y="8081839"/>
            <a:ext cx="18288000" cy="1100973"/>
            <a:chOff x="0" y="0"/>
            <a:chExt cx="1444468" cy="75675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D8A018DA-AC2B-9450-84C2-BCE3007E51C4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BD3A39A1-C69B-0A37-0CCF-21262DA6F325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8C2284-BA7A-777F-71B0-BBB5BA672B70}"/>
              </a:ext>
            </a:extLst>
          </p:cNvPr>
          <p:cNvSpPr txBox="1"/>
          <p:nvPr/>
        </p:nvSpPr>
        <p:spPr>
          <a:xfrm>
            <a:off x="656804" y="8081839"/>
            <a:ext cx="1725019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Key Focus: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/>
              <a:t>Market share is slipping while retail dependency remains high—diversifying channels and strengthening competitive positioning are critical for sustainable growth.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81012-F4A0-4C0B-8D5A-1CC22233636E}"/>
              </a:ext>
            </a:extLst>
          </p:cNvPr>
          <p:cNvSpPr txBox="1"/>
          <p:nvPr/>
        </p:nvSpPr>
        <p:spPr>
          <a:xfrm>
            <a:off x="656804" y="2818142"/>
            <a:ext cx="16687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Market Share Declined: PC market share fell from 7.63% → 5.87%, signalling increasing competitive pressure.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Retail Dominates: 71.5% of revenue comes from Retail, creating significant channel dependency.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Direct &amp; Distributor: Direct contributes 17.8%, while Distributor contributes 10.7%.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Competitive Pressure: Competitors continue to capture a significant portion of the PC market.</a:t>
            </a: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D53D48F7-A09C-5E75-6E53-4BB3DD0A715B}"/>
              </a:ext>
            </a:extLst>
          </p:cNvPr>
          <p:cNvSpPr txBox="1"/>
          <p:nvPr/>
        </p:nvSpPr>
        <p:spPr>
          <a:xfrm>
            <a:off x="0" y="4532051"/>
            <a:ext cx="12344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Strategic Recommendations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52916-4FB2-B33E-17AB-0081BEAE9E43}"/>
              </a:ext>
            </a:extLst>
          </p:cNvPr>
          <p:cNvSpPr txBox="1"/>
          <p:nvPr/>
        </p:nvSpPr>
        <p:spPr>
          <a:xfrm>
            <a:off x="622690" y="5581518"/>
            <a:ext cx="162905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Recover Market Share through targeted product, pricing, and promotional strategies.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Strengthen Direct &amp; E-commerce channels to reduce reliance on Retail.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Benchmark Competitors on pricing, product launches, promotions, and market positioning.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Invest in High-Growth Segments with stronger demand and profitability potential.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Optimize Channel Strategy with differentiated pricing, incentives, and promotions.</a:t>
            </a:r>
          </a:p>
        </p:txBody>
      </p:sp>
    </p:spTree>
    <p:extLst>
      <p:ext uri="{BB962C8B-B14F-4D97-AF65-F5344CB8AC3E}">
        <p14:creationId xmlns:p14="http://schemas.microsoft.com/office/powerpoint/2010/main" val="425587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6664-60B1-5080-E044-503D2B1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4A7E477F-D748-C562-A48F-7478107397CC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9A7DCF7-435E-2A7A-19A7-EA745F0C04A0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F4A69D3-7C7F-4244-68E8-649045A8D247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3B1E791-8683-4CC5-F85A-D02B96A5B511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E1E0442-5FA6-FBEF-A8EE-074723E8FDC5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CA73932-902A-22E9-2EC3-6974C58D8CAF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87FB77BC-04AB-96F0-BF55-84029AB1AE82}"/>
              </a:ext>
            </a:extLst>
          </p:cNvPr>
          <p:cNvSpPr txBox="1"/>
          <p:nvPr/>
        </p:nvSpPr>
        <p:spPr>
          <a:xfrm>
            <a:off x="-1828800" y="1772319"/>
            <a:ext cx="17526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Key Insights From Finance View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CC6BD59-2BA8-8DCC-F7A4-D78553C150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grpSp>
        <p:nvGrpSpPr>
          <p:cNvPr id="6" name="Group 16">
            <a:extLst>
              <a:ext uri="{FF2B5EF4-FFF2-40B4-BE49-F238E27FC236}">
                <a16:creationId xmlns:a16="http://schemas.microsoft.com/office/drawing/2014/main" id="{0454A21B-0EF3-093F-E150-4444BCC537E9}"/>
              </a:ext>
            </a:extLst>
          </p:cNvPr>
          <p:cNvGrpSpPr/>
          <p:nvPr/>
        </p:nvGrpSpPr>
        <p:grpSpPr>
          <a:xfrm>
            <a:off x="0" y="8081840"/>
            <a:ext cx="18288000" cy="1100973"/>
            <a:chOff x="0" y="0"/>
            <a:chExt cx="1444468" cy="75675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974422F4-9F5D-0204-42D9-F247F1615290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6E791993-FC45-3B3F-0896-D184CE66141A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17AAA11-0F97-A0E0-2304-41C27D387BB0}"/>
              </a:ext>
            </a:extLst>
          </p:cNvPr>
          <p:cNvSpPr txBox="1"/>
          <p:nvPr/>
        </p:nvSpPr>
        <p:spPr>
          <a:xfrm>
            <a:off x="566876" y="8123394"/>
            <a:ext cx="176449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Key Focus: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200" b="1" dirty="0"/>
              <a:t>North America drives revenue, but India needs urgent profitability improvement while customer diversification and account-level analytics can reduce concentration risk.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AE597FC4-B8B1-2A5A-6D6D-06CC942E43D2}"/>
              </a:ext>
            </a:extLst>
          </p:cNvPr>
          <p:cNvSpPr txBox="1"/>
          <p:nvPr/>
        </p:nvSpPr>
        <p:spPr>
          <a:xfrm>
            <a:off x="-17060" y="5046373"/>
            <a:ext cx="12344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7566A-8C81-51B3-CFD2-D2EC72EA6881}"/>
              </a:ext>
            </a:extLst>
          </p:cNvPr>
          <p:cNvSpPr txBox="1"/>
          <p:nvPr/>
        </p:nvSpPr>
        <p:spPr>
          <a:xfrm>
            <a:off x="566876" y="2728872"/>
            <a:ext cx="166924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🇺🇸 North America leads with $1.02B revenue, making it the strongest regional market.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🇮🇳 India generates $945M but records the lowest profitability at -23%, highlighting significant margin pressure.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ROA contributes $789M with comparatively better profitability at -6.3%.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Amazon leads customers with approximately $497M in sales, followed by AtliQ Exclusive and AtliQ e Store.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Customer concentration &amp; forecasting gaps — Several key accounts show low forecast accuracy and unfavourable net-error performance.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98D5EA-42B3-5C35-4EE5-C7428AA96C4D}"/>
              </a:ext>
            </a:extLst>
          </p:cNvPr>
          <p:cNvSpPr txBox="1"/>
          <p:nvPr/>
        </p:nvSpPr>
        <p:spPr>
          <a:xfrm>
            <a:off x="664765" y="6125630"/>
            <a:ext cx="16692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Prioritize high-value customers with targeted pricing, promotions, and retention strategies.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Improve India’s profitability through pricing optimization, better product mix, and cost control.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Diversify the customer base by developing mid-tier accounts and reducing dependency on major customers.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Track customer-level profitability through dashboards to quickly identify underperforming accounts.</a:t>
            </a:r>
          </a:p>
        </p:txBody>
      </p:sp>
    </p:spTree>
    <p:extLst>
      <p:ext uri="{BB962C8B-B14F-4D97-AF65-F5344CB8AC3E}">
        <p14:creationId xmlns:p14="http://schemas.microsoft.com/office/powerpoint/2010/main" val="338383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FF7D2-A6C2-F924-B98A-82E76F64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3B8B43DB-9AE9-4E13-AB75-5D8AFDF19384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2C86B4-6DBD-EDB9-1869-0BD5383BCFAF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F376E0C-49B5-5FCD-CF85-66FDEA2D12F2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13F0980-55AC-CD57-03E5-BB1392CF6459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9DAF639-94E7-D8AF-18AB-9059DF5CEC68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A730324-B23E-E9C3-D11A-DE22303B9C6D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1943564F-CB2A-7224-FF13-4FA1CD5B148C}"/>
              </a:ext>
            </a:extLst>
          </p:cNvPr>
          <p:cNvSpPr txBox="1"/>
          <p:nvPr/>
        </p:nvSpPr>
        <p:spPr>
          <a:xfrm>
            <a:off x="-1905000" y="1771154"/>
            <a:ext cx="18288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Key Insights From Marketing View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37936A8-95CB-FBB7-4974-21C61ED7BE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grpSp>
        <p:nvGrpSpPr>
          <p:cNvPr id="6" name="Group 16">
            <a:extLst>
              <a:ext uri="{FF2B5EF4-FFF2-40B4-BE49-F238E27FC236}">
                <a16:creationId xmlns:a16="http://schemas.microsoft.com/office/drawing/2014/main" id="{24B0769B-48E6-13B9-A828-414BAC038D80}"/>
              </a:ext>
            </a:extLst>
          </p:cNvPr>
          <p:cNvGrpSpPr/>
          <p:nvPr/>
        </p:nvGrpSpPr>
        <p:grpSpPr>
          <a:xfrm>
            <a:off x="0" y="8081839"/>
            <a:ext cx="18288000" cy="1200329"/>
            <a:chOff x="0" y="0"/>
            <a:chExt cx="1444468" cy="75675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10762EF6-516E-7E60-A0D8-BAA9F68AF7E9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C48CBF67-45E0-F04A-9742-C40131BC92F9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7A9F86B-9D25-B170-9934-28D2AE773385}"/>
              </a:ext>
            </a:extLst>
          </p:cNvPr>
          <p:cNvSpPr txBox="1"/>
          <p:nvPr/>
        </p:nvSpPr>
        <p:spPr>
          <a:xfrm>
            <a:off x="682962" y="8081839"/>
            <a:ext cx="179098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Key Focus: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/>
              <a:t>The priority is to keep high-demand products available while reducing excess stock balancing availability, working capital, and profitability.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0A5F1-878B-7782-3F84-6159B66EC6DD}"/>
              </a:ext>
            </a:extLst>
          </p:cNvPr>
          <p:cNvSpPr txBox="1"/>
          <p:nvPr/>
        </p:nvSpPr>
        <p:spPr>
          <a:xfrm>
            <a:off x="493295" y="2712500"/>
            <a:ext cx="169003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Notebooks lead with ~$1.58B revenue, followed by Peripherals (~$898M) and Desktops (~$711M).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Accessories contribute ~$454M, making them another important revenue segment.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OOS Risk: Several high-demand products face stock-out issues, creating potential lost-sales opportunities.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Forecasting Gaps: Batteries, External SSDs, and Graphics Cards show weak forecast accuracy.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Excess Inventory: Selected SKUs face EI risk, tying up working capital and increasing inventory costs.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73A24-1CFC-0571-145E-873A24AD17C5}"/>
              </a:ext>
            </a:extLst>
          </p:cNvPr>
          <p:cNvSpPr txBox="1"/>
          <p:nvPr/>
        </p:nvSpPr>
        <p:spPr>
          <a:xfrm>
            <a:off x="493295" y="5755651"/>
            <a:ext cx="16507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Prioritize inventory for high-demand Notebook, Desktop, and Peripheral SKUs.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Reduce excess stock through targeted promotions, bundles, and optimized replenishment.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Prevent stock-outs by strengthening replenishment for critical products.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Implement SKU-level forecasting for volatile and unpredictable products.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Adopt ABC inventory classification to focus working capital on high-value, high-impact SKUs.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51AB1726-8B2A-AA07-9070-FCC36EA2E583}"/>
              </a:ext>
            </a:extLst>
          </p:cNvPr>
          <p:cNvSpPr txBox="1"/>
          <p:nvPr/>
        </p:nvSpPr>
        <p:spPr>
          <a:xfrm>
            <a:off x="-152400" y="4746714"/>
            <a:ext cx="12344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14613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BEB7-1E3D-4F67-74C1-1B4DFA6F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9FA692CD-1B43-6804-F171-8E0A5B48B692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1CC89F7-2D21-DA23-A630-87894CDA36E3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BD7043C-C29B-D9C3-A592-E27ED6A53047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711D540-E3A9-F7B9-6B33-110C555C5BC9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27F834F-1DA5-CAF4-FD7C-EB950828BF3E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66575A9-CB0C-65EF-33C4-06E72A6ED951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08C86E11-13EB-EBF2-399A-775441998F22}"/>
              </a:ext>
            </a:extLst>
          </p:cNvPr>
          <p:cNvSpPr txBox="1"/>
          <p:nvPr/>
        </p:nvSpPr>
        <p:spPr>
          <a:xfrm>
            <a:off x="-1905000" y="1710342"/>
            <a:ext cx="1949115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Key Insights From Supply Chain View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6026107-632C-B48C-58E4-0348F57E4A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grpSp>
        <p:nvGrpSpPr>
          <p:cNvPr id="6" name="Group 16">
            <a:extLst>
              <a:ext uri="{FF2B5EF4-FFF2-40B4-BE49-F238E27FC236}">
                <a16:creationId xmlns:a16="http://schemas.microsoft.com/office/drawing/2014/main" id="{E2BC54DC-BB82-371D-EAAD-AD1070922B2D}"/>
              </a:ext>
            </a:extLst>
          </p:cNvPr>
          <p:cNvGrpSpPr/>
          <p:nvPr/>
        </p:nvGrpSpPr>
        <p:grpSpPr>
          <a:xfrm>
            <a:off x="0" y="8081839"/>
            <a:ext cx="18288000" cy="1104603"/>
            <a:chOff x="0" y="0"/>
            <a:chExt cx="1444468" cy="75675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361D3682-8765-5730-A949-1C858FD85963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947575EA-0406-BE53-5BB6-14419CADD8E4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80B9842-95E3-E4A7-219A-D0F3BC833D90}"/>
              </a:ext>
            </a:extLst>
          </p:cNvPr>
          <p:cNvSpPr txBox="1"/>
          <p:nvPr/>
        </p:nvSpPr>
        <p:spPr>
          <a:xfrm>
            <a:off x="682962" y="8068562"/>
            <a:ext cx="176050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Key Focus: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/>
              <a:t>Forecast accuracy is improving, but persistent negative bias is creating supply-chain risk—better granular forecasting and continuous monitoring can close the gap.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39E61-035B-A1B7-3374-6995031AE77D}"/>
              </a:ext>
            </a:extLst>
          </p:cNvPr>
          <p:cNvSpPr txBox="1"/>
          <p:nvPr/>
        </p:nvSpPr>
        <p:spPr>
          <a:xfrm>
            <a:off x="512627" y="2789599"/>
            <a:ext cx="16487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/>
              <a:t>Forecast Accuracy improved to 81.17%, showing better demand prediction.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/>
              <a:t>Net Error worsened to -$3.47M, indicating a significant forecasting bias.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/>
              <a:t>Absolute Net Error improved by ~29%, but the negative bias remains a concern.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/>
              <a:t>Accuracy varies widely across customers and products, making aggregate forecasting less effective.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A5C0B-268D-B3FE-89A6-540A10199775}"/>
              </a:ext>
            </a:extLst>
          </p:cNvPr>
          <p:cNvSpPr txBox="1"/>
          <p:nvPr/>
        </p:nvSpPr>
        <p:spPr>
          <a:xfrm>
            <a:off x="512627" y="5748935"/>
            <a:ext cx="167787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Identify the root causes behind persistent negative forecast bias.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Adopt customer + SKU-level forecasting for more precise demand planning.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Conduct monthly Forecast vs. Actual reviews to continuously improve accuracy.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Set automated alerts for customers/SKUs falling below accuracy thresholds.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Integrate Sales + Inventory + Forecast data to create a unified demand-planning process.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F1AD5FE7-28F4-B5EA-D611-C94617F76D50}"/>
              </a:ext>
            </a:extLst>
          </p:cNvPr>
          <p:cNvSpPr txBox="1"/>
          <p:nvPr/>
        </p:nvSpPr>
        <p:spPr>
          <a:xfrm>
            <a:off x="-76200" y="4623588"/>
            <a:ext cx="12344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3608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017F9-9D79-29E7-31BC-E9FCA11F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0C9F54D0-F5D1-DBF8-9C06-5CAACDD6542A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7CCCA42-C521-AB13-9B00-086CE0E4328C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E56004B-029D-F13E-9520-80337CD5A79A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7C7C6E9-02D4-7B3C-7551-6A20BAFF666E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BBEC6CD-AA2C-7E5E-3747-AB64F42746EC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49A46C8-FEBF-24F9-D886-D6FFED852A4D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0A71B075-5A3B-2431-0D84-92B54A3EBD92}"/>
              </a:ext>
            </a:extLst>
          </p:cNvPr>
          <p:cNvSpPr txBox="1"/>
          <p:nvPr/>
        </p:nvSpPr>
        <p:spPr>
          <a:xfrm>
            <a:off x="-2543175" y="1976124"/>
            <a:ext cx="196596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Key Insights From Executive View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06E1116-1A0A-A960-155B-4EF088141B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grpSp>
        <p:nvGrpSpPr>
          <p:cNvPr id="6" name="Group 16">
            <a:extLst>
              <a:ext uri="{FF2B5EF4-FFF2-40B4-BE49-F238E27FC236}">
                <a16:creationId xmlns:a16="http://schemas.microsoft.com/office/drawing/2014/main" id="{5FED8417-791C-F4CD-5CD5-7369ABB3ABC4}"/>
              </a:ext>
            </a:extLst>
          </p:cNvPr>
          <p:cNvGrpSpPr/>
          <p:nvPr/>
        </p:nvGrpSpPr>
        <p:grpSpPr>
          <a:xfrm>
            <a:off x="0" y="8357827"/>
            <a:ext cx="18288000" cy="1161158"/>
            <a:chOff x="0" y="0"/>
            <a:chExt cx="1444468" cy="75675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8E845F1E-27A0-B9DB-AD68-19B4DAC918DD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6AB4EE4E-A732-4DF7-9B27-499B5C8EFBE7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982C7B4-A752-7677-59E9-72B705BC4E9A}"/>
              </a:ext>
            </a:extLst>
          </p:cNvPr>
          <p:cNvSpPr txBox="1"/>
          <p:nvPr/>
        </p:nvSpPr>
        <p:spPr>
          <a:xfrm>
            <a:off x="545433" y="8384408"/>
            <a:ext cx="177425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Key Focus: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/>
              <a:t>Revenue remains strong, but declining market share, negative profitability, forecasting gaps, and channel concentration are limiting sustainable growth.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1808A-2A26-6069-8DE1-C1AA9D3BF295}"/>
              </a:ext>
            </a:extLst>
          </p:cNvPr>
          <p:cNvSpPr txBox="1"/>
          <p:nvPr/>
        </p:nvSpPr>
        <p:spPr>
          <a:xfrm>
            <a:off x="545433" y="3118191"/>
            <a:ext cx="16428118" cy="267765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$3.74B Net Sales Close to the $3.81B benchmark, with only a 1.86% gap.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38.08% Gross Margin Healthy and broadly aligned with the 38.34% benchmark.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-13.98% Net Profit Margin  Profitability remains the biggest concern despite strong gross margins.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81.17% Forecast Accuracy  Improved from 80.21%, but Net Error increased to -$3.47M, signaling forecasting gaps.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61% Revenue from PC Division  High dependence on a single division increases business risk.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72% Revenue from Retail Strong channel performance, but significant channel concentration.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 PC Market Share fell to 5.87% in 2022 EST from 7.63% in 2021, highlighting competitive pressure.</a:t>
            </a:r>
          </a:p>
        </p:txBody>
      </p:sp>
    </p:spTree>
    <p:extLst>
      <p:ext uri="{BB962C8B-B14F-4D97-AF65-F5344CB8AC3E}">
        <p14:creationId xmlns:p14="http://schemas.microsoft.com/office/powerpoint/2010/main" val="109699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C103-7104-D342-9D32-58FBC0E0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>
            <a:extLst>
              <a:ext uri="{FF2B5EF4-FFF2-40B4-BE49-F238E27FC236}">
                <a16:creationId xmlns:a16="http://schemas.microsoft.com/office/drawing/2014/main" id="{0A02F85A-C05E-EB9E-01BA-DC6A572663F1}"/>
              </a:ext>
            </a:extLst>
          </p:cNvPr>
          <p:cNvGrpSpPr/>
          <p:nvPr/>
        </p:nvGrpSpPr>
        <p:grpSpPr>
          <a:xfrm>
            <a:off x="0" y="768015"/>
            <a:ext cx="18288000" cy="958096"/>
            <a:chOff x="0" y="0"/>
            <a:chExt cx="1444468" cy="756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2A75187-099A-0EA1-51C5-4E496D312A6F}"/>
                </a:ext>
              </a:extLst>
            </p:cNvPr>
            <p:cNvSpPr/>
            <p:nvPr/>
          </p:nvSpPr>
          <p:spPr>
            <a:xfrm>
              <a:off x="0" y="0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54E5179-93BF-FCFE-F3EA-5051591676E3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71FE2AF-1F19-17F0-22F8-88A32CB593A0}"/>
              </a:ext>
            </a:extLst>
          </p:cNvPr>
          <p:cNvGrpSpPr/>
          <p:nvPr/>
        </p:nvGrpSpPr>
        <p:grpSpPr>
          <a:xfrm>
            <a:off x="16973550" y="1104187"/>
            <a:ext cx="285750" cy="285750"/>
            <a:chOff x="0" y="0"/>
            <a:chExt cx="536872" cy="53687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6AAD8B3-1DD9-226C-0B19-6B27F65565A0}"/>
                </a:ext>
              </a:extLst>
            </p:cNvPr>
            <p:cNvSpPr/>
            <p:nvPr/>
          </p:nvSpPr>
          <p:spPr>
            <a:xfrm>
              <a:off x="0" y="0"/>
              <a:ext cx="536872" cy="536872"/>
            </a:xfrm>
            <a:custGeom>
              <a:avLst/>
              <a:gdLst/>
              <a:ahLst/>
              <a:cxnLst/>
              <a:rect l="l" t="t" r="r" b="b"/>
              <a:pathLst>
                <a:path w="536872" h="536872">
                  <a:moveTo>
                    <a:pt x="268436" y="0"/>
                  </a:moveTo>
                  <a:cubicBezTo>
                    <a:pt x="120183" y="0"/>
                    <a:pt x="0" y="120183"/>
                    <a:pt x="0" y="268436"/>
                  </a:cubicBezTo>
                  <a:cubicBezTo>
                    <a:pt x="0" y="416689"/>
                    <a:pt x="120183" y="536872"/>
                    <a:pt x="268436" y="536872"/>
                  </a:cubicBezTo>
                  <a:cubicBezTo>
                    <a:pt x="416689" y="536872"/>
                    <a:pt x="536872" y="416689"/>
                    <a:pt x="536872" y="268436"/>
                  </a:cubicBezTo>
                  <a:cubicBezTo>
                    <a:pt x="536872" y="120183"/>
                    <a:pt x="416689" y="0"/>
                    <a:pt x="268436" y="0"/>
                  </a:cubicBezTo>
                  <a:close/>
                </a:path>
              </a:pathLst>
            </a:custGeom>
            <a:solidFill>
              <a:srgbClr val="D97C0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729B3D9-BB9B-B4DB-F6EA-A0C32805C0C5}"/>
                </a:ext>
              </a:extLst>
            </p:cNvPr>
            <p:cNvSpPr txBox="1"/>
            <p:nvPr/>
          </p:nvSpPr>
          <p:spPr>
            <a:xfrm>
              <a:off x="50332" y="-6818"/>
              <a:ext cx="436208" cy="493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77F51327-4B1B-04C1-2EE6-A4A8F80CA12F}"/>
              </a:ext>
            </a:extLst>
          </p:cNvPr>
          <p:cNvSpPr txBox="1"/>
          <p:nvPr/>
        </p:nvSpPr>
        <p:spPr>
          <a:xfrm>
            <a:off x="304800" y="1729776"/>
            <a:ext cx="78486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Recommendation</a:t>
            </a:r>
            <a:endParaRPr lang="en-US" sz="6000" b="1" u="none" strike="noStrike" dirty="0">
              <a:solidFill>
                <a:srgbClr val="000000"/>
              </a:solidFill>
              <a:latin typeface="Georgia Pro Bold"/>
              <a:ea typeface="Georgia Pro Bold"/>
              <a:cs typeface="Georgia Pro Bold"/>
              <a:sym typeface="Georgia Pro Bol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120E1A7-CC05-D5CB-0254-404E0AACC8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68AA84-36B4-0FFB-9263-E6DFFED1C4CB}"/>
              </a:ext>
            </a:extLst>
          </p:cNvPr>
          <p:cNvSpPr txBox="1"/>
          <p:nvPr/>
        </p:nvSpPr>
        <p:spPr>
          <a:xfrm>
            <a:off x="638472" y="2768931"/>
            <a:ext cx="162115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Optimize Costs</a:t>
            </a:r>
            <a:br>
              <a:rPr lang="en-IN" sz="2400" b="1" dirty="0"/>
            </a:br>
            <a:r>
              <a:rPr lang="en-IN" sz="2400" dirty="0"/>
              <a:t>Analyze operating and post-deduction expenses to identify cost-saving opportunities and improve margins. </a:t>
            </a:r>
            <a:br>
              <a:rPr lang="en-IN" sz="2400" dirty="0"/>
            </a:b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Expand Growth:</a:t>
            </a:r>
            <a:br>
              <a:rPr lang="en-IN" sz="2400" b="1" dirty="0"/>
            </a:br>
            <a:r>
              <a:rPr lang="en-IN" sz="2400" dirty="0"/>
              <a:t>Sustain APAC’s momentum while strengthening underperforming markets, especially </a:t>
            </a:r>
            <a:r>
              <a:rPr lang="en-IN" sz="2400" b="1" dirty="0"/>
              <a:t>LATAM (0.42% of net sales)</a:t>
            </a:r>
            <a:r>
              <a:rPr lang="en-IN" sz="2400" dirty="0"/>
              <a:t>. </a:t>
            </a:r>
            <a:br>
              <a:rPr lang="en-IN" sz="2400" dirty="0"/>
            </a:b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Improve Product Profitability</a:t>
            </a:r>
          </a:p>
          <a:p>
            <a:pPr lvl="0"/>
            <a:r>
              <a:rPr lang="en-IN" sz="2400" dirty="0"/>
              <a:t>     Reassess pricing and cost structures for high-margin but loss-making products. </a:t>
            </a:r>
            <a:br>
              <a:rPr lang="en-IN" sz="2400" dirty="0"/>
            </a:b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Strengthen Inventory Planning </a:t>
            </a:r>
            <a:br>
              <a:rPr lang="en-IN" sz="2400" b="1" dirty="0"/>
            </a:br>
            <a:r>
              <a:rPr lang="en-IN" sz="2400" dirty="0"/>
              <a:t>Leverage predictive analytics to improve forecasting and reduce </a:t>
            </a:r>
            <a:r>
              <a:rPr lang="en-IN" sz="2400" b="1" dirty="0"/>
              <a:t>OOS and excess inventory (EI)</a:t>
            </a:r>
            <a:r>
              <a:rPr lang="en-IN" sz="2400" dirty="0"/>
              <a:t>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Drive Operational Efficiency</a:t>
            </a:r>
          </a:p>
          <a:p>
            <a:pPr lvl="0"/>
            <a:r>
              <a:rPr lang="en-IN" sz="2400" b="1" dirty="0"/>
              <a:t>     </a:t>
            </a:r>
            <a:r>
              <a:rPr lang="en-IN" sz="2400" dirty="0"/>
              <a:t>Build a holistic cost-reduction strategy and adopt </a:t>
            </a:r>
            <a:r>
              <a:rPr lang="en-IN" sz="2400" b="1" dirty="0"/>
              <a:t>automation and technology-driven solutions</a:t>
            </a:r>
            <a:r>
              <a:rPr lang="en-IN" sz="2400" dirty="0"/>
              <a:t>. </a:t>
            </a:r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E284FE1D-E7BC-9829-9189-43F4E6726700}"/>
              </a:ext>
            </a:extLst>
          </p:cNvPr>
          <p:cNvGrpSpPr/>
          <p:nvPr/>
        </p:nvGrpSpPr>
        <p:grpSpPr>
          <a:xfrm>
            <a:off x="0" y="1748219"/>
            <a:ext cx="18444410" cy="7509852"/>
            <a:chOff x="-12354" y="-38100"/>
            <a:chExt cx="1456822" cy="599037"/>
          </a:xfrm>
        </p:grpSpPr>
        <p:sp>
          <p:nvSpPr>
            <p:cNvPr id="5" name="Freeform 17">
              <a:extLst>
                <a:ext uri="{FF2B5EF4-FFF2-40B4-BE49-F238E27FC236}">
                  <a16:creationId xmlns:a16="http://schemas.microsoft.com/office/drawing/2014/main" id="{FED23401-A1FE-0B4E-F07F-0D0F1EEAEE05}"/>
                </a:ext>
              </a:extLst>
            </p:cNvPr>
            <p:cNvSpPr/>
            <p:nvPr/>
          </p:nvSpPr>
          <p:spPr>
            <a:xfrm>
              <a:off x="-12354" y="485262"/>
              <a:ext cx="1444468" cy="75675"/>
            </a:xfrm>
            <a:custGeom>
              <a:avLst/>
              <a:gdLst/>
              <a:ahLst/>
              <a:cxnLst/>
              <a:rect l="l" t="t" r="r" b="b"/>
              <a:pathLst>
                <a:path w="1444468" h="75675">
                  <a:moveTo>
                    <a:pt x="0" y="0"/>
                  </a:moveTo>
                  <a:lnTo>
                    <a:pt x="1444468" y="0"/>
                  </a:lnTo>
                  <a:lnTo>
                    <a:pt x="1444468" y="75675"/>
                  </a:lnTo>
                  <a:lnTo>
                    <a:pt x="0" y="75675"/>
                  </a:lnTo>
                  <a:close/>
                </a:path>
              </a:pathLst>
            </a:custGeom>
            <a:solidFill>
              <a:srgbClr val="EEB632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18">
              <a:extLst>
                <a:ext uri="{FF2B5EF4-FFF2-40B4-BE49-F238E27FC236}">
                  <a16:creationId xmlns:a16="http://schemas.microsoft.com/office/drawing/2014/main" id="{118B3ECF-8ECD-D2DF-99DE-577C472ECDB5}"/>
                </a:ext>
              </a:extLst>
            </p:cNvPr>
            <p:cNvSpPr txBox="1"/>
            <p:nvPr/>
          </p:nvSpPr>
          <p:spPr>
            <a:xfrm>
              <a:off x="0" y="-38100"/>
              <a:ext cx="1444468" cy="1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23"/>
                </a:lnSpc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9930B1A-0C9D-2454-0467-31B902E4023E}"/>
              </a:ext>
            </a:extLst>
          </p:cNvPr>
          <p:cNvSpPr txBox="1"/>
          <p:nvPr/>
        </p:nvSpPr>
        <p:spPr>
          <a:xfrm>
            <a:off x="633656" y="8306528"/>
            <a:ext cx="16366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Key Focus: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/>
              <a:t>Convert revenue growth into sustainable profitability through cost optimization, smarter pricing, and data-driven operations.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711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13034820" y="-5848870"/>
            <a:ext cx="8448960" cy="8448960"/>
            <a:chOff x="0" y="0"/>
            <a:chExt cx="2263545" cy="22635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3545" cy="2263545"/>
            </a:xfrm>
            <a:custGeom>
              <a:avLst/>
              <a:gdLst/>
              <a:ahLst/>
              <a:cxnLst/>
              <a:rect l="l" t="t" r="r" b="b"/>
              <a:pathLst>
                <a:path w="2263545" h="2263545">
                  <a:moveTo>
                    <a:pt x="35736" y="0"/>
                  </a:moveTo>
                  <a:lnTo>
                    <a:pt x="2227808" y="0"/>
                  </a:lnTo>
                  <a:cubicBezTo>
                    <a:pt x="2237286" y="0"/>
                    <a:pt x="2246376" y="3765"/>
                    <a:pt x="2253078" y="10467"/>
                  </a:cubicBezTo>
                  <a:cubicBezTo>
                    <a:pt x="2259780" y="17169"/>
                    <a:pt x="2263545" y="26258"/>
                    <a:pt x="2263545" y="35736"/>
                  </a:cubicBezTo>
                  <a:lnTo>
                    <a:pt x="2263545" y="2227808"/>
                  </a:lnTo>
                  <a:cubicBezTo>
                    <a:pt x="2263545" y="2237286"/>
                    <a:pt x="2259780" y="2246376"/>
                    <a:pt x="2253078" y="2253078"/>
                  </a:cubicBezTo>
                  <a:cubicBezTo>
                    <a:pt x="2246376" y="2259780"/>
                    <a:pt x="2237286" y="2263545"/>
                    <a:pt x="2227808" y="2263545"/>
                  </a:cubicBezTo>
                  <a:lnTo>
                    <a:pt x="35736" y="2263545"/>
                  </a:lnTo>
                  <a:cubicBezTo>
                    <a:pt x="26258" y="2263545"/>
                    <a:pt x="17169" y="2259780"/>
                    <a:pt x="10467" y="2253078"/>
                  </a:cubicBezTo>
                  <a:cubicBezTo>
                    <a:pt x="3765" y="2246376"/>
                    <a:pt x="0" y="2237286"/>
                    <a:pt x="0" y="2227808"/>
                  </a:cubicBezTo>
                  <a:lnTo>
                    <a:pt x="0" y="35736"/>
                  </a:lnTo>
                  <a:cubicBezTo>
                    <a:pt x="0" y="26258"/>
                    <a:pt x="3765" y="17169"/>
                    <a:pt x="10467" y="10467"/>
                  </a:cubicBezTo>
                  <a:cubicBezTo>
                    <a:pt x="17169" y="3765"/>
                    <a:pt x="26258" y="0"/>
                    <a:pt x="35736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63545" cy="2301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10405419" y="-7052713"/>
            <a:ext cx="8717733" cy="8717733"/>
            <a:chOff x="0" y="0"/>
            <a:chExt cx="2296028" cy="22960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6028" cy="2296028"/>
            </a:xfrm>
            <a:custGeom>
              <a:avLst/>
              <a:gdLst/>
              <a:ahLst/>
              <a:cxnLst/>
              <a:rect l="l" t="t" r="r" b="b"/>
              <a:pathLst>
                <a:path w="2296028" h="2296028">
                  <a:moveTo>
                    <a:pt x="34635" y="0"/>
                  </a:moveTo>
                  <a:lnTo>
                    <a:pt x="2261394" y="0"/>
                  </a:lnTo>
                  <a:cubicBezTo>
                    <a:pt x="2280522" y="0"/>
                    <a:pt x="2296028" y="15506"/>
                    <a:pt x="2296028" y="34635"/>
                  </a:cubicBezTo>
                  <a:lnTo>
                    <a:pt x="2296028" y="2261394"/>
                  </a:lnTo>
                  <a:cubicBezTo>
                    <a:pt x="2296028" y="2280522"/>
                    <a:pt x="2280522" y="2296028"/>
                    <a:pt x="2261394" y="2296028"/>
                  </a:cubicBezTo>
                  <a:lnTo>
                    <a:pt x="34635" y="2296028"/>
                  </a:lnTo>
                  <a:cubicBezTo>
                    <a:pt x="25449" y="2296028"/>
                    <a:pt x="16639" y="2292379"/>
                    <a:pt x="10144" y="2285884"/>
                  </a:cubicBezTo>
                  <a:cubicBezTo>
                    <a:pt x="3649" y="2279389"/>
                    <a:pt x="0" y="2270580"/>
                    <a:pt x="0" y="2261394"/>
                  </a:cubicBezTo>
                  <a:lnTo>
                    <a:pt x="0" y="34635"/>
                  </a:lnTo>
                  <a:cubicBezTo>
                    <a:pt x="0" y="15506"/>
                    <a:pt x="15506" y="0"/>
                    <a:pt x="34635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96028" cy="233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-4224480" y="6893337"/>
            <a:ext cx="8448960" cy="8448960"/>
            <a:chOff x="0" y="0"/>
            <a:chExt cx="2263545" cy="2263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3545" cy="2263545"/>
            </a:xfrm>
            <a:custGeom>
              <a:avLst/>
              <a:gdLst/>
              <a:ahLst/>
              <a:cxnLst/>
              <a:rect l="l" t="t" r="r" b="b"/>
              <a:pathLst>
                <a:path w="2263545" h="2263545">
                  <a:moveTo>
                    <a:pt x="35736" y="0"/>
                  </a:moveTo>
                  <a:lnTo>
                    <a:pt x="2227808" y="0"/>
                  </a:lnTo>
                  <a:cubicBezTo>
                    <a:pt x="2237286" y="0"/>
                    <a:pt x="2246376" y="3765"/>
                    <a:pt x="2253078" y="10467"/>
                  </a:cubicBezTo>
                  <a:cubicBezTo>
                    <a:pt x="2259780" y="17169"/>
                    <a:pt x="2263545" y="26258"/>
                    <a:pt x="2263545" y="35736"/>
                  </a:cubicBezTo>
                  <a:lnTo>
                    <a:pt x="2263545" y="2227808"/>
                  </a:lnTo>
                  <a:cubicBezTo>
                    <a:pt x="2263545" y="2237286"/>
                    <a:pt x="2259780" y="2246376"/>
                    <a:pt x="2253078" y="2253078"/>
                  </a:cubicBezTo>
                  <a:cubicBezTo>
                    <a:pt x="2246376" y="2259780"/>
                    <a:pt x="2237286" y="2263545"/>
                    <a:pt x="2227808" y="2263545"/>
                  </a:cubicBezTo>
                  <a:lnTo>
                    <a:pt x="35736" y="2263545"/>
                  </a:lnTo>
                  <a:cubicBezTo>
                    <a:pt x="26258" y="2263545"/>
                    <a:pt x="17169" y="2259780"/>
                    <a:pt x="10467" y="2253078"/>
                  </a:cubicBezTo>
                  <a:cubicBezTo>
                    <a:pt x="3765" y="2246376"/>
                    <a:pt x="0" y="2237286"/>
                    <a:pt x="0" y="2227808"/>
                  </a:cubicBezTo>
                  <a:lnTo>
                    <a:pt x="0" y="35736"/>
                  </a:lnTo>
                  <a:cubicBezTo>
                    <a:pt x="0" y="26258"/>
                    <a:pt x="3765" y="17169"/>
                    <a:pt x="10467" y="10467"/>
                  </a:cubicBezTo>
                  <a:cubicBezTo>
                    <a:pt x="17169" y="3765"/>
                    <a:pt x="26258" y="0"/>
                    <a:pt x="35736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63545" cy="2301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-984038" y="8277255"/>
            <a:ext cx="8717733" cy="8717733"/>
            <a:chOff x="0" y="0"/>
            <a:chExt cx="2296028" cy="22960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96028" cy="2296028"/>
            </a:xfrm>
            <a:custGeom>
              <a:avLst/>
              <a:gdLst/>
              <a:ahLst/>
              <a:cxnLst/>
              <a:rect l="l" t="t" r="r" b="b"/>
              <a:pathLst>
                <a:path w="2296028" h="2296028">
                  <a:moveTo>
                    <a:pt x="34635" y="0"/>
                  </a:moveTo>
                  <a:lnTo>
                    <a:pt x="2261394" y="0"/>
                  </a:lnTo>
                  <a:cubicBezTo>
                    <a:pt x="2280522" y="0"/>
                    <a:pt x="2296028" y="15506"/>
                    <a:pt x="2296028" y="34635"/>
                  </a:cubicBezTo>
                  <a:lnTo>
                    <a:pt x="2296028" y="2261394"/>
                  </a:lnTo>
                  <a:cubicBezTo>
                    <a:pt x="2296028" y="2280522"/>
                    <a:pt x="2280522" y="2296028"/>
                    <a:pt x="2261394" y="2296028"/>
                  </a:cubicBezTo>
                  <a:lnTo>
                    <a:pt x="34635" y="2296028"/>
                  </a:lnTo>
                  <a:cubicBezTo>
                    <a:pt x="25449" y="2296028"/>
                    <a:pt x="16639" y="2292379"/>
                    <a:pt x="10144" y="2285884"/>
                  </a:cubicBezTo>
                  <a:cubicBezTo>
                    <a:pt x="3649" y="2279389"/>
                    <a:pt x="0" y="2270580"/>
                    <a:pt x="0" y="2261394"/>
                  </a:cubicBezTo>
                  <a:lnTo>
                    <a:pt x="0" y="34635"/>
                  </a:lnTo>
                  <a:cubicBezTo>
                    <a:pt x="0" y="15506"/>
                    <a:pt x="15506" y="0"/>
                    <a:pt x="34635" y="0"/>
                  </a:cubicBezTo>
                  <a:close/>
                </a:path>
              </a:pathLst>
            </a:custGeom>
            <a:solidFill>
              <a:srgbClr val="D97C02">
                <a:alpha val="56863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96028" cy="233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02162" y="4324455"/>
            <a:ext cx="13309282" cy="204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3"/>
              </a:lnSpc>
            </a:pPr>
            <a:r>
              <a:rPr lang="en-US" sz="16492" dirty="0">
                <a:solidFill>
                  <a:srgbClr val="F2F2F2"/>
                </a:solidFill>
                <a:latin typeface="Georgia Pro"/>
                <a:ea typeface="Georgia Pro"/>
                <a:cs typeface="Georgia Pro"/>
                <a:sym typeface="Georgia Pro"/>
              </a:rPr>
              <a:t>THANK YOU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83365" y="7709932"/>
            <a:ext cx="892127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33031"/>
                </a:solidFill>
                <a:latin typeface="Poppins"/>
                <a:ea typeface="Poppins"/>
                <a:cs typeface="Poppins"/>
                <a:sym typeface="Poppins"/>
              </a:rPr>
              <a:t>We Look Forward to Our Shared Future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CEDA5EA-E67D-FD41-632A-02A118C8A1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2" y="893521"/>
            <a:ext cx="691476" cy="676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1258</Words>
  <Application>Microsoft Office PowerPoint</Application>
  <PresentationFormat>Custom</PresentationFormat>
  <Paragraphs>109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Poppins</vt:lpstr>
      <vt:lpstr>Wingdings</vt:lpstr>
      <vt:lpstr>Georgia Pro</vt:lpstr>
      <vt:lpstr>Georgia Pro 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VIPUL GOUR</cp:lastModifiedBy>
  <cp:revision>18</cp:revision>
  <dcterms:created xsi:type="dcterms:W3CDTF">2006-08-16T00:00:00Z</dcterms:created>
  <dcterms:modified xsi:type="dcterms:W3CDTF">2026-09-09T15:29:37Z</dcterms:modified>
  <dc:identifier>DAHUgqUXyjI</dc:identifier>
</cp:coreProperties>
</file>